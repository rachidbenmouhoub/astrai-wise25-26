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3"/>
  </p:notesMasterIdLst>
  <p:handoutMasterIdLst>
    <p:handoutMasterId r:id="rId24"/>
  </p:handoutMasterIdLst>
  <p:sldIdLst>
    <p:sldId id="256" r:id="rId2"/>
    <p:sldId id="258" r:id="rId3"/>
    <p:sldId id="260" r:id="rId4"/>
    <p:sldId id="286" r:id="rId5"/>
    <p:sldId id="287" r:id="rId6"/>
    <p:sldId id="289" r:id="rId7"/>
    <p:sldId id="296" r:id="rId8"/>
    <p:sldId id="284" r:id="rId9"/>
    <p:sldId id="285" r:id="rId10"/>
    <p:sldId id="297" r:id="rId11"/>
    <p:sldId id="261" r:id="rId12"/>
    <p:sldId id="290" r:id="rId13"/>
    <p:sldId id="298" r:id="rId14"/>
    <p:sldId id="291" r:id="rId15"/>
    <p:sldId id="292" r:id="rId16"/>
    <p:sldId id="293" r:id="rId17"/>
    <p:sldId id="294" r:id="rId18"/>
    <p:sldId id="265" r:id="rId19"/>
    <p:sldId id="299" r:id="rId20"/>
    <p:sldId id="267" r:id="rId21"/>
    <p:sldId id="295" r:id="rId22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Keine Formatvorlage, Tabellenraster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>
        <p:scale>
          <a:sx n="66" d="100"/>
          <a:sy n="66" d="100"/>
        </p:scale>
        <p:origin x="1301" y="869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0D0ECF0-5BA6-44F1-BC8A-DA3ECF981302}" type="doc">
      <dgm:prSet loTypeId="urn:microsoft.com/office/officeart/2005/8/layout/radial3" loCatId="cycle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de-DE"/>
        </a:p>
      </dgm:t>
    </dgm:pt>
    <dgm:pt modelId="{15F059B7-DF55-4C80-9A85-6678A3B43367}">
      <dgm:prSet phldrT="[Text]" phldr="0"/>
      <dgm:spPr>
        <a:solidFill>
          <a:schemeClr val="accent2">
            <a:alpha val="50000"/>
          </a:schemeClr>
        </a:solidFill>
        <a:ln>
          <a:solidFill>
            <a:srgbClr val="C00000"/>
          </a:solidFill>
        </a:ln>
      </dgm:spPr>
      <dgm:t>
        <a:bodyPr/>
        <a:lstStyle/>
        <a:p>
          <a:r>
            <a:rPr lang="en-US" dirty="0"/>
            <a:t>Data Validation</a:t>
          </a:r>
          <a:endParaRPr lang="de-DE" dirty="0"/>
        </a:p>
      </dgm:t>
    </dgm:pt>
    <dgm:pt modelId="{372CA905-6139-4A8F-9B56-50248A71BD73}" type="parTrans" cxnId="{520B102A-1ACB-4F9C-B429-94BDA99F4FF4}">
      <dgm:prSet/>
      <dgm:spPr/>
      <dgm:t>
        <a:bodyPr/>
        <a:lstStyle/>
        <a:p>
          <a:endParaRPr lang="de-DE"/>
        </a:p>
      </dgm:t>
    </dgm:pt>
    <dgm:pt modelId="{6F323148-7E91-4F74-A21D-9C5FE8015F47}" type="sibTrans" cxnId="{520B102A-1ACB-4F9C-B429-94BDA99F4FF4}">
      <dgm:prSet/>
      <dgm:spPr/>
      <dgm:t>
        <a:bodyPr/>
        <a:lstStyle/>
        <a:p>
          <a:endParaRPr lang="de-DE"/>
        </a:p>
      </dgm:t>
    </dgm:pt>
    <dgm:pt modelId="{4A21B77C-4CE3-48E0-A788-5D5316E05CE9}">
      <dgm:prSet phldrT="[Text]"/>
      <dgm:spPr>
        <a:solidFill>
          <a:schemeClr val="accent2">
            <a:alpha val="50000"/>
          </a:schemeClr>
        </a:solidFill>
        <a:ln>
          <a:solidFill>
            <a:srgbClr val="C00000"/>
          </a:solidFill>
        </a:ln>
      </dgm:spPr>
      <dgm:t>
        <a:bodyPr/>
        <a:lstStyle/>
        <a:p>
          <a:pPr>
            <a:buNone/>
          </a:pPr>
          <a:r>
            <a:rPr lang="de-DE" dirty="0"/>
            <a:t>Smart </a:t>
          </a:r>
          <a:r>
            <a:rPr lang="de-DE" dirty="0" err="1"/>
            <a:t>cities</a:t>
          </a:r>
          <a:endParaRPr lang="de-DE" dirty="0"/>
        </a:p>
      </dgm:t>
    </dgm:pt>
    <dgm:pt modelId="{FBE7C62A-B988-4880-B1B8-270593132295}" type="parTrans" cxnId="{73436226-DCDC-4783-B328-F09B919B334D}">
      <dgm:prSet/>
      <dgm:spPr/>
      <dgm:t>
        <a:bodyPr/>
        <a:lstStyle/>
        <a:p>
          <a:endParaRPr lang="de-DE"/>
        </a:p>
      </dgm:t>
    </dgm:pt>
    <dgm:pt modelId="{6C804302-696C-466C-A1FD-A570C7E2544A}" type="sibTrans" cxnId="{73436226-DCDC-4783-B328-F09B919B334D}">
      <dgm:prSet/>
      <dgm:spPr/>
      <dgm:t>
        <a:bodyPr/>
        <a:lstStyle/>
        <a:p>
          <a:endParaRPr lang="de-DE"/>
        </a:p>
      </dgm:t>
    </dgm:pt>
    <dgm:pt modelId="{D05A376D-5768-4F2C-BF69-A2609FD3C644}">
      <dgm:prSet phldrT="[Text]"/>
      <dgm:spPr>
        <a:solidFill>
          <a:schemeClr val="accent2">
            <a:alpha val="50000"/>
          </a:schemeClr>
        </a:solidFill>
        <a:ln>
          <a:solidFill>
            <a:srgbClr val="C00000"/>
          </a:solidFill>
        </a:ln>
      </dgm:spPr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de-DE" dirty="0"/>
            <a:t>Transport and </a:t>
          </a:r>
          <a:r>
            <a:rPr lang="de-DE" dirty="0" err="1"/>
            <a:t>infrastructure</a:t>
          </a:r>
          <a:r>
            <a:rPr lang="de-DE" dirty="0"/>
            <a:t> </a:t>
          </a:r>
          <a:r>
            <a:rPr lang="de-DE" dirty="0" err="1"/>
            <a:t>planning</a:t>
          </a:r>
          <a:endParaRPr lang="de-DE" dirty="0"/>
        </a:p>
      </dgm:t>
    </dgm:pt>
    <dgm:pt modelId="{BE57CF57-3110-411F-8688-8C91F7BE3C1F}" type="parTrans" cxnId="{48F21908-97C1-42C7-BDA2-017D2E9858F6}">
      <dgm:prSet/>
      <dgm:spPr/>
      <dgm:t>
        <a:bodyPr/>
        <a:lstStyle/>
        <a:p>
          <a:endParaRPr lang="de-DE"/>
        </a:p>
      </dgm:t>
    </dgm:pt>
    <dgm:pt modelId="{714458BF-B368-4085-BDB2-D704AA60B49E}" type="sibTrans" cxnId="{48F21908-97C1-42C7-BDA2-017D2E9858F6}">
      <dgm:prSet/>
      <dgm:spPr/>
      <dgm:t>
        <a:bodyPr/>
        <a:lstStyle/>
        <a:p>
          <a:endParaRPr lang="de-DE"/>
        </a:p>
      </dgm:t>
    </dgm:pt>
    <dgm:pt modelId="{6DEFE6BA-5D57-4D14-A7FB-CF09DA99E158}">
      <dgm:prSet phldrT="[Text]"/>
      <dgm:spPr>
        <a:solidFill>
          <a:schemeClr val="accent2">
            <a:alpha val="50000"/>
          </a:schemeClr>
        </a:solidFill>
        <a:ln>
          <a:solidFill>
            <a:srgbClr val="C00000"/>
          </a:solidFill>
        </a:ln>
      </dgm:spPr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de-DE" dirty="0"/>
            <a:t>Research </a:t>
          </a:r>
          <a:r>
            <a:rPr lang="de-DE" dirty="0" err="1"/>
            <a:t>projects</a:t>
          </a:r>
          <a:endParaRPr lang="de-DE" dirty="0"/>
        </a:p>
      </dgm:t>
    </dgm:pt>
    <dgm:pt modelId="{E09E8A41-5FB6-4A1C-93B4-D29CA97698E0}" type="parTrans" cxnId="{6D9DA7D2-BC51-4EAE-AC6E-D85B9942B63C}">
      <dgm:prSet/>
      <dgm:spPr/>
      <dgm:t>
        <a:bodyPr/>
        <a:lstStyle/>
        <a:p>
          <a:endParaRPr lang="de-DE"/>
        </a:p>
      </dgm:t>
    </dgm:pt>
    <dgm:pt modelId="{CB0F7540-19E2-494C-A348-843989D75316}" type="sibTrans" cxnId="{6D9DA7D2-BC51-4EAE-AC6E-D85B9942B63C}">
      <dgm:prSet/>
      <dgm:spPr/>
      <dgm:t>
        <a:bodyPr/>
        <a:lstStyle/>
        <a:p>
          <a:endParaRPr lang="de-DE"/>
        </a:p>
      </dgm:t>
    </dgm:pt>
    <dgm:pt modelId="{B139BB6E-A919-4A71-90F2-167CDC728DCD}">
      <dgm:prSet phldrT="[Text]"/>
      <dgm:spPr>
        <a:solidFill>
          <a:schemeClr val="accent2">
            <a:alpha val="50000"/>
          </a:schemeClr>
        </a:solidFill>
        <a:ln>
          <a:solidFill>
            <a:srgbClr val="C00000"/>
          </a:solidFill>
        </a:ln>
      </dgm:spPr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de-DE"/>
            <a:t>Business analytics</a:t>
          </a:r>
          <a:endParaRPr lang="de-DE" dirty="0"/>
        </a:p>
      </dgm:t>
    </dgm:pt>
    <dgm:pt modelId="{87CACBD0-99B1-4C5A-A999-4F8E08E38433}" type="parTrans" cxnId="{F34AB958-B3C9-4FDE-9378-3181A7504D3F}">
      <dgm:prSet/>
      <dgm:spPr/>
      <dgm:t>
        <a:bodyPr/>
        <a:lstStyle/>
        <a:p>
          <a:endParaRPr lang="de-DE"/>
        </a:p>
      </dgm:t>
    </dgm:pt>
    <dgm:pt modelId="{EB20D5B9-1CD9-45B5-BF6B-31BB89B4AC4A}" type="sibTrans" cxnId="{F34AB958-B3C9-4FDE-9378-3181A7504D3F}">
      <dgm:prSet/>
      <dgm:spPr/>
      <dgm:t>
        <a:bodyPr/>
        <a:lstStyle/>
        <a:p>
          <a:endParaRPr lang="de-DE"/>
        </a:p>
      </dgm:t>
    </dgm:pt>
    <dgm:pt modelId="{39DE8706-9894-417C-A5F1-48696C474BBA}" type="pres">
      <dgm:prSet presAssocID="{80D0ECF0-5BA6-44F1-BC8A-DA3ECF981302}" presName="composite" presStyleCnt="0">
        <dgm:presLayoutVars>
          <dgm:chMax val="1"/>
          <dgm:dir/>
          <dgm:resizeHandles val="exact"/>
        </dgm:presLayoutVars>
      </dgm:prSet>
      <dgm:spPr/>
    </dgm:pt>
    <dgm:pt modelId="{D1EFC52F-401F-49DF-A963-2374BEA6412A}" type="pres">
      <dgm:prSet presAssocID="{80D0ECF0-5BA6-44F1-BC8A-DA3ECF981302}" presName="radial" presStyleCnt="0">
        <dgm:presLayoutVars>
          <dgm:animLvl val="ctr"/>
        </dgm:presLayoutVars>
      </dgm:prSet>
      <dgm:spPr/>
    </dgm:pt>
    <dgm:pt modelId="{742FBB1D-1A36-4DC6-9CED-3EC3780F79A3}" type="pres">
      <dgm:prSet presAssocID="{15F059B7-DF55-4C80-9A85-6678A3B43367}" presName="centerShape" presStyleLbl="vennNode1" presStyleIdx="0" presStyleCnt="5" custLinFactNeighborX="515" custLinFactNeighborY="-702"/>
      <dgm:spPr/>
    </dgm:pt>
    <dgm:pt modelId="{6E6164A1-7715-4CC8-8B0C-DB33657366AD}" type="pres">
      <dgm:prSet presAssocID="{4A21B77C-4CE3-48E0-A788-5D5316E05CE9}" presName="node" presStyleLbl="vennNode1" presStyleIdx="1" presStyleCnt="5">
        <dgm:presLayoutVars>
          <dgm:bulletEnabled val="1"/>
        </dgm:presLayoutVars>
      </dgm:prSet>
      <dgm:spPr/>
    </dgm:pt>
    <dgm:pt modelId="{BB87A24C-9DE7-4EEA-A63A-79FAD9D68FBD}" type="pres">
      <dgm:prSet presAssocID="{D05A376D-5768-4F2C-BF69-A2609FD3C644}" presName="node" presStyleLbl="vennNode1" presStyleIdx="2" presStyleCnt="5">
        <dgm:presLayoutVars>
          <dgm:bulletEnabled val="1"/>
        </dgm:presLayoutVars>
      </dgm:prSet>
      <dgm:spPr/>
    </dgm:pt>
    <dgm:pt modelId="{22A47566-42B5-467C-8A00-79745071F311}" type="pres">
      <dgm:prSet presAssocID="{6DEFE6BA-5D57-4D14-A7FB-CF09DA99E158}" presName="node" presStyleLbl="vennNode1" presStyleIdx="3" presStyleCnt="5">
        <dgm:presLayoutVars>
          <dgm:bulletEnabled val="1"/>
        </dgm:presLayoutVars>
      </dgm:prSet>
      <dgm:spPr/>
    </dgm:pt>
    <dgm:pt modelId="{3863114E-7CF5-4C95-BFA6-9A5126DF0388}" type="pres">
      <dgm:prSet presAssocID="{B139BB6E-A919-4A71-90F2-167CDC728DCD}" presName="node" presStyleLbl="vennNode1" presStyleIdx="4" presStyleCnt="5">
        <dgm:presLayoutVars>
          <dgm:bulletEnabled val="1"/>
        </dgm:presLayoutVars>
      </dgm:prSet>
      <dgm:spPr/>
    </dgm:pt>
  </dgm:ptLst>
  <dgm:cxnLst>
    <dgm:cxn modelId="{48F21908-97C1-42C7-BDA2-017D2E9858F6}" srcId="{15F059B7-DF55-4C80-9A85-6678A3B43367}" destId="{D05A376D-5768-4F2C-BF69-A2609FD3C644}" srcOrd="1" destOrd="0" parTransId="{BE57CF57-3110-411F-8688-8C91F7BE3C1F}" sibTransId="{714458BF-B368-4085-BDB2-D704AA60B49E}"/>
    <dgm:cxn modelId="{73436226-DCDC-4783-B328-F09B919B334D}" srcId="{15F059B7-DF55-4C80-9A85-6678A3B43367}" destId="{4A21B77C-4CE3-48E0-A788-5D5316E05CE9}" srcOrd="0" destOrd="0" parTransId="{FBE7C62A-B988-4880-B1B8-270593132295}" sibTransId="{6C804302-696C-466C-A1FD-A570C7E2544A}"/>
    <dgm:cxn modelId="{56F44229-9914-4BFA-948D-262B72940584}" type="presOf" srcId="{4A21B77C-4CE3-48E0-A788-5D5316E05CE9}" destId="{6E6164A1-7715-4CC8-8B0C-DB33657366AD}" srcOrd="0" destOrd="0" presId="urn:microsoft.com/office/officeart/2005/8/layout/radial3"/>
    <dgm:cxn modelId="{520B102A-1ACB-4F9C-B429-94BDA99F4FF4}" srcId="{80D0ECF0-5BA6-44F1-BC8A-DA3ECF981302}" destId="{15F059B7-DF55-4C80-9A85-6678A3B43367}" srcOrd="0" destOrd="0" parTransId="{372CA905-6139-4A8F-9B56-50248A71BD73}" sibTransId="{6F323148-7E91-4F74-A21D-9C5FE8015F47}"/>
    <dgm:cxn modelId="{1FEC774C-1161-47C5-B67B-8682D5165F7B}" type="presOf" srcId="{6DEFE6BA-5D57-4D14-A7FB-CF09DA99E158}" destId="{22A47566-42B5-467C-8A00-79745071F311}" srcOrd="0" destOrd="0" presId="urn:microsoft.com/office/officeart/2005/8/layout/radial3"/>
    <dgm:cxn modelId="{F34AB958-B3C9-4FDE-9378-3181A7504D3F}" srcId="{15F059B7-DF55-4C80-9A85-6678A3B43367}" destId="{B139BB6E-A919-4A71-90F2-167CDC728DCD}" srcOrd="3" destOrd="0" parTransId="{87CACBD0-99B1-4C5A-A999-4F8E08E38433}" sibTransId="{EB20D5B9-1CD9-45B5-BF6B-31BB89B4AC4A}"/>
    <dgm:cxn modelId="{0BB5E991-8FBE-4C1D-B301-ED6BE139C3C0}" type="presOf" srcId="{B139BB6E-A919-4A71-90F2-167CDC728DCD}" destId="{3863114E-7CF5-4C95-BFA6-9A5126DF0388}" srcOrd="0" destOrd="0" presId="urn:microsoft.com/office/officeart/2005/8/layout/radial3"/>
    <dgm:cxn modelId="{953392B5-2681-4F8B-B4C6-B59B97203E0A}" type="presOf" srcId="{80D0ECF0-5BA6-44F1-BC8A-DA3ECF981302}" destId="{39DE8706-9894-417C-A5F1-48696C474BBA}" srcOrd="0" destOrd="0" presId="urn:microsoft.com/office/officeart/2005/8/layout/radial3"/>
    <dgm:cxn modelId="{DAE249D1-CC35-4695-BDA5-23BB801FC49B}" type="presOf" srcId="{15F059B7-DF55-4C80-9A85-6678A3B43367}" destId="{742FBB1D-1A36-4DC6-9CED-3EC3780F79A3}" srcOrd="0" destOrd="0" presId="urn:microsoft.com/office/officeart/2005/8/layout/radial3"/>
    <dgm:cxn modelId="{6D9DA7D2-BC51-4EAE-AC6E-D85B9942B63C}" srcId="{15F059B7-DF55-4C80-9A85-6678A3B43367}" destId="{6DEFE6BA-5D57-4D14-A7FB-CF09DA99E158}" srcOrd="2" destOrd="0" parTransId="{E09E8A41-5FB6-4A1C-93B4-D29CA97698E0}" sibTransId="{CB0F7540-19E2-494C-A348-843989D75316}"/>
    <dgm:cxn modelId="{3574C4EE-85BD-46E7-B468-3DD7143EE6AA}" type="presOf" srcId="{D05A376D-5768-4F2C-BF69-A2609FD3C644}" destId="{BB87A24C-9DE7-4EEA-A63A-79FAD9D68FBD}" srcOrd="0" destOrd="0" presId="urn:microsoft.com/office/officeart/2005/8/layout/radial3"/>
    <dgm:cxn modelId="{76584EB1-38A9-4401-910F-87AE00111C92}" type="presParOf" srcId="{39DE8706-9894-417C-A5F1-48696C474BBA}" destId="{D1EFC52F-401F-49DF-A963-2374BEA6412A}" srcOrd="0" destOrd="0" presId="urn:microsoft.com/office/officeart/2005/8/layout/radial3"/>
    <dgm:cxn modelId="{6CE8E7DC-FDC9-4FD6-8FBF-0E5157D4927B}" type="presParOf" srcId="{D1EFC52F-401F-49DF-A963-2374BEA6412A}" destId="{742FBB1D-1A36-4DC6-9CED-3EC3780F79A3}" srcOrd="0" destOrd="0" presId="urn:microsoft.com/office/officeart/2005/8/layout/radial3"/>
    <dgm:cxn modelId="{76857E4A-D69A-465F-8A94-03701986188A}" type="presParOf" srcId="{D1EFC52F-401F-49DF-A963-2374BEA6412A}" destId="{6E6164A1-7715-4CC8-8B0C-DB33657366AD}" srcOrd="1" destOrd="0" presId="urn:microsoft.com/office/officeart/2005/8/layout/radial3"/>
    <dgm:cxn modelId="{C63815CF-EF46-489E-9FA5-0854A9268F69}" type="presParOf" srcId="{D1EFC52F-401F-49DF-A963-2374BEA6412A}" destId="{BB87A24C-9DE7-4EEA-A63A-79FAD9D68FBD}" srcOrd="2" destOrd="0" presId="urn:microsoft.com/office/officeart/2005/8/layout/radial3"/>
    <dgm:cxn modelId="{11F94F19-5680-4A93-86B7-C334D81BB152}" type="presParOf" srcId="{D1EFC52F-401F-49DF-A963-2374BEA6412A}" destId="{22A47566-42B5-467C-8A00-79745071F311}" srcOrd="3" destOrd="0" presId="urn:microsoft.com/office/officeart/2005/8/layout/radial3"/>
    <dgm:cxn modelId="{34FD14C3-4FCE-4958-ADAA-9BA5A8B36A5A}" type="presParOf" srcId="{D1EFC52F-401F-49DF-A963-2374BEA6412A}" destId="{3863114E-7CF5-4C95-BFA6-9A5126DF0388}" srcOrd="4" destOrd="0" presId="urn:microsoft.com/office/officeart/2005/8/layout/radial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42FBB1D-1A36-4DC6-9CED-3EC3780F79A3}">
      <dsp:nvSpPr>
        <dsp:cNvPr id="0" name=""/>
        <dsp:cNvSpPr/>
      </dsp:nvSpPr>
      <dsp:spPr>
        <a:xfrm>
          <a:off x="2159012" y="838208"/>
          <a:ext cx="2136840" cy="2136840"/>
        </a:xfrm>
        <a:prstGeom prst="ellipse">
          <a:avLst/>
        </a:prstGeom>
        <a:solidFill>
          <a:schemeClr val="accent2">
            <a:alpha val="50000"/>
          </a:schemeClr>
        </a:solidFill>
        <a:ln w="25400" cap="flat" cmpd="sng" algn="ctr">
          <a:solidFill>
            <a:srgbClr val="C00000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 dirty="0"/>
            <a:t>Data Validation</a:t>
          </a:r>
          <a:endParaRPr lang="de-DE" sz="2700" kern="1200" dirty="0"/>
        </a:p>
      </dsp:txBody>
      <dsp:txXfrm>
        <a:off x="2471945" y="1151141"/>
        <a:ext cx="1510974" cy="1510974"/>
      </dsp:txXfrm>
    </dsp:sp>
    <dsp:sp modelId="{6E6164A1-7715-4CC8-8B0C-DB33657366AD}">
      <dsp:nvSpPr>
        <dsp:cNvPr id="0" name=""/>
        <dsp:cNvSpPr/>
      </dsp:nvSpPr>
      <dsp:spPr>
        <a:xfrm>
          <a:off x="2678889" y="381"/>
          <a:ext cx="1068420" cy="1068420"/>
        </a:xfrm>
        <a:prstGeom prst="ellipse">
          <a:avLst/>
        </a:prstGeom>
        <a:solidFill>
          <a:schemeClr val="accent2">
            <a:alpha val="50000"/>
          </a:schemeClr>
        </a:solidFill>
        <a:ln w="25400" cap="flat" cmpd="sng" algn="ctr">
          <a:solidFill>
            <a:srgbClr val="C00000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000" kern="1200" dirty="0"/>
            <a:t>Smart </a:t>
          </a:r>
          <a:r>
            <a:rPr lang="de-DE" sz="1000" kern="1200" dirty="0" err="1"/>
            <a:t>cities</a:t>
          </a:r>
          <a:endParaRPr lang="de-DE" sz="1000" kern="1200" dirty="0"/>
        </a:p>
      </dsp:txBody>
      <dsp:txXfrm>
        <a:off x="2835355" y="156847"/>
        <a:ext cx="755488" cy="755488"/>
      </dsp:txXfrm>
    </dsp:sp>
    <dsp:sp modelId="{BB87A24C-9DE7-4EEA-A63A-79FAD9D68FBD}">
      <dsp:nvSpPr>
        <dsp:cNvPr id="0" name=""/>
        <dsp:cNvSpPr/>
      </dsp:nvSpPr>
      <dsp:spPr>
        <a:xfrm>
          <a:off x="4070464" y="1391956"/>
          <a:ext cx="1068420" cy="1068420"/>
        </a:xfrm>
        <a:prstGeom prst="ellipse">
          <a:avLst/>
        </a:prstGeom>
        <a:solidFill>
          <a:schemeClr val="accent2">
            <a:alpha val="50000"/>
          </a:schemeClr>
        </a:solidFill>
        <a:ln w="25400" cap="flat" cmpd="sng" algn="ctr">
          <a:solidFill>
            <a:srgbClr val="C00000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de-DE" sz="1000" kern="1200" dirty="0"/>
            <a:t>Transport and </a:t>
          </a:r>
          <a:r>
            <a:rPr lang="de-DE" sz="1000" kern="1200" dirty="0" err="1"/>
            <a:t>infrastructure</a:t>
          </a:r>
          <a:r>
            <a:rPr lang="de-DE" sz="1000" kern="1200" dirty="0"/>
            <a:t> </a:t>
          </a:r>
          <a:r>
            <a:rPr lang="de-DE" sz="1000" kern="1200" dirty="0" err="1"/>
            <a:t>planning</a:t>
          </a:r>
          <a:endParaRPr lang="de-DE" sz="1000" kern="1200" dirty="0"/>
        </a:p>
      </dsp:txBody>
      <dsp:txXfrm>
        <a:off x="4226930" y="1548422"/>
        <a:ext cx="755488" cy="755488"/>
      </dsp:txXfrm>
    </dsp:sp>
    <dsp:sp modelId="{22A47566-42B5-467C-8A00-79745071F311}">
      <dsp:nvSpPr>
        <dsp:cNvPr id="0" name=""/>
        <dsp:cNvSpPr/>
      </dsp:nvSpPr>
      <dsp:spPr>
        <a:xfrm>
          <a:off x="2678889" y="2783531"/>
          <a:ext cx="1068420" cy="1068420"/>
        </a:xfrm>
        <a:prstGeom prst="ellipse">
          <a:avLst/>
        </a:prstGeom>
        <a:solidFill>
          <a:schemeClr val="accent2">
            <a:alpha val="50000"/>
          </a:schemeClr>
        </a:solidFill>
        <a:ln w="25400" cap="flat" cmpd="sng" algn="ctr">
          <a:solidFill>
            <a:srgbClr val="C00000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de-DE" sz="1000" kern="1200" dirty="0"/>
            <a:t>Research </a:t>
          </a:r>
          <a:r>
            <a:rPr lang="de-DE" sz="1000" kern="1200" dirty="0" err="1"/>
            <a:t>projects</a:t>
          </a:r>
          <a:endParaRPr lang="de-DE" sz="1000" kern="1200" dirty="0"/>
        </a:p>
      </dsp:txBody>
      <dsp:txXfrm>
        <a:off x="2835355" y="2939997"/>
        <a:ext cx="755488" cy="755488"/>
      </dsp:txXfrm>
    </dsp:sp>
    <dsp:sp modelId="{3863114E-7CF5-4C95-BFA6-9A5126DF0388}">
      <dsp:nvSpPr>
        <dsp:cNvPr id="0" name=""/>
        <dsp:cNvSpPr/>
      </dsp:nvSpPr>
      <dsp:spPr>
        <a:xfrm>
          <a:off x="1287314" y="1391956"/>
          <a:ext cx="1068420" cy="1068420"/>
        </a:xfrm>
        <a:prstGeom prst="ellipse">
          <a:avLst/>
        </a:prstGeom>
        <a:solidFill>
          <a:schemeClr val="accent2">
            <a:alpha val="50000"/>
          </a:schemeClr>
        </a:solidFill>
        <a:ln w="25400" cap="flat" cmpd="sng" algn="ctr">
          <a:solidFill>
            <a:srgbClr val="C00000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de-DE" sz="1000" kern="1200"/>
            <a:t>Business analytics</a:t>
          </a:r>
          <a:endParaRPr lang="de-DE" sz="1000" kern="1200" dirty="0"/>
        </a:p>
      </dsp:txBody>
      <dsp:txXfrm>
        <a:off x="1443780" y="1548422"/>
        <a:ext cx="755488" cy="75548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radial3">
  <dgm:title val=""/>
  <dgm:desc val=""/>
  <dgm:catLst>
    <dgm:cat type="relationship" pri="31000"/>
    <dgm:cat type="cycle" pri="1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  <dgm:cxn modelId="6" srcId="1" destId="14" srcOrd="3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13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13"/>
        <dgm:pt modelId="14"/>
        <dgm:pt modelId="15"/>
        <dgm:pt modelId="16"/>
      </dgm:ptLst>
      <dgm:cxnLst>
        <dgm:cxn modelId="2" srcId="0" destId="1" srcOrd="0" destOrd="0"/>
        <dgm:cxn modelId="16" srcId="1" destId="11" srcOrd="0" destOrd="0"/>
        <dgm:cxn modelId="17" srcId="1" destId="12" srcOrd="1" destOrd="0"/>
        <dgm:cxn modelId="18" srcId="1" destId="13" srcOrd="2" destOrd="0"/>
        <dgm:cxn modelId="19" srcId="1" destId="14" srcOrd="3" destOrd="0"/>
        <dgm:cxn modelId="20" srcId="1" destId="15" srcOrd="4" destOrd="0"/>
        <dgm:cxn modelId="21" srcId="1" destId="16" srcOrd="5" destOrd="0"/>
      </dgm:cxnLst>
      <dgm:bg/>
      <dgm:whole/>
    </dgm:dataModel>
  </dgm:clrData>
  <dgm:layoutNode name="composite">
    <dgm:varLst>
      <dgm:chMax val="1"/>
      <dgm:dir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onstrLst/>
    <dgm:ruleLst/>
    <dgm:layoutNode name="radial">
      <dgm:varLst>
        <dgm:animLvl val="ctr"/>
      </dgm:varLst>
      <dgm:choose name="Name0">
        <dgm:if name="Name1" func="var" arg="dir" op="equ" val="norm">
          <dgm:choose name="Name2">
            <dgm:if name="Name3" axis="ch ch" ptType="node node" st="1 1" cnt="1 0" func="cnt" op="lte" val="1">
              <dgm:alg type="cycle">
                <dgm:param type="stAng" val="90"/>
                <dgm:param type="spanAng" val="360"/>
                <dgm:param type="ctrShpMap" val="fNode"/>
              </dgm:alg>
            </dgm:if>
            <dgm:else name="Name4">
              <dgm:alg type="cycle">
                <dgm:param type="stAng" val="0"/>
                <dgm:param type="spanAng" val="360"/>
                <dgm:param type="ctrShpMap" val="fNode"/>
              </dgm:alg>
            </dgm:else>
          </dgm:choose>
        </dgm:if>
        <dgm:else name="Name5">
          <dgm:alg type="cycle">
            <dgm:param type="stAng" val="0"/>
            <dgm:param type="spanAng" val="-360"/>
            <dgm:param type="ctrShpMap" val="fNode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enterShape" refType="w"/>
        <dgm:constr type="h" for="ch" forName="centerShape" refType="h"/>
        <dgm:constr type="w" for="ch" forName="node" refType="w" fact="0.5"/>
        <dgm:constr type="h" for="ch" forName="node" refType="h" fact="0.5"/>
        <dgm:constr type="sp" refType="w" refFor="ch" refForName="node" fact="-0.2"/>
        <dgm:constr type="sibSp" refType="w" refFor="ch" refForName="node" fact="-0.2"/>
        <dgm:constr type="primFontSz" for="ch" forName="centerShape" val="65"/>
        <dgm:constr type="primFontSz" for="des" forName="node" val="65"/>
        <dgm:constr type="primFontSz" for="ch" forName="node" refType="primFontSz" refFor="ch" refForName="centerShape" op="lte"/>
      </dgm:constrLst>
      <dgm:ruleLst/>
      <dgm:forEach name="Name6" axis="ch" ptType="node" cnt="1">
        <dgm:layoutNode name="centerShape" styleLbl="vennNode1">
          <dgm:alg type="tx"/>
          <dgm:shape xmlns:r="http://schemas.openxmlformats.org/officeDocument/2006/relationships" type="ellipse" r:blip="">
            <dgm:adjLst/>
          </dgm:shape>
          <dgm:presOf axis="self"/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</dgm:constrLst>
          <dgm:ruleLst>
            <dgm:rule type="primFontSz" val="5" fact="NaN" max="NaN"/>
          </dgm:ruleLst>
        </dgm:layoutNode>
        <dgm:forEach name="Name7" axis="ch" ptType="node">
          <dgm:layoutNode name="node" styleLbl="vennNode1">
            <dgm:varLst>
              <dgm:bulletEnabled val="1"/>
            </dgm:varLst>
            <dgm:alg type="tx"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presOf axis="desOrSelf" ptType="node"/>
            <dgm:constrLst>
              <dgm:constr type="tMarg" refType="primFontSz" fact="0.1"/>
              <dgm:constr type="bMarg" refType="primFontSz" fact="0.1"/>
              <dgm:constr type="lMarg" refType="primFontSz" fact="0.1"/>
              <dgm:constr type="rMarg" refType="primFontSz" fact="0.1"/>
            </dgm:constrLst>
            <dgm:ruleLst>
              <dgm:rule type="primFontSz" val="5" fact="NaN" max="NaN"/>
            </dgm:ruleLst>
          </dgm:layoutNode>
        </dgm:forEach>
      </dgm:forEach>
    </dgm:layoutNod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>
            <a:extLst>
              <a:ext uri="{FF2B5EF4-FFF2-40B4-BE49-F238E27FC236}">
                <a16:creationId xmlns:a16="http://schemas.microsoft.com/office/drawing/2014/main" id="{103C8AE9-813D-D28C-9645-108965A0E32E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31C03C02-F4BD-9BBB-F539-F763FAA609B2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6905625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52E2327-2EF0-45E1-AFBA-977989430A9D}" type="datetimeFigureOut">
              <a:rPr lang="de-DE" smtClean="0"/>
              <a:t>25.01.2026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265F0372-5D9E-FB72-565D-7834270D9AFC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Jan 28 2026| ASTRAI | You-Lead Session| 1</a:t>
            </a:r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7F1C408E-3289-41C2-594F-3E71B35AD69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963165E-99F1-4CB5-989E-48B7906A3BC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54689917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6905625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E6D5991-FC94-42B1-A65C-A04C76776A2F}" type="datetimeFigureOut">
              <a:rPr lang="de-DE" smtClean="0"/>
              <a:t>25.01.2026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Jan 28 2026| ASTRAI | You-Lead Session| 1</a:t>
            </a:r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482BD0D-B7A4-47C6-8E6C-9B76600D81D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49056719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 day we collect data from sensors, companies and systems.</a:t>
            </a:r>
            <a:br>
              <a:rPr lang="en-US" dirty="0"/>
            </a:br>
            <a:r>
              <a:rPr lang="en-US" dirty="0"/>
              <a:t>But not all data is </a:t>
            </a:r>
            <a:r>
              <a:rPr lang="en-US" dirty="0" err="1"/>
              <a:t>correct.Before</a:t>
            </a:r>
            <a:r>
              <a:rPr lang="en-US" dirty="0"/>
              <a:t> analysis or AI, we must first check if data makes sense.</a:t>
            </a:r>
            <a:br>
              <a:rPr lang="en-US" dirty="0"/>
            </a:br>
            <a:r>
              <a:rPr lang="en-US" dirty="0"/>
              <a:t>Today I will show how we can use Pandas to automatically detect and prevent bad data.</a:t>
            </a:r>
          </a:p>
          <a:p>
            <a:r>
              <a:rPr lang="en-US" b="1" dirty="0"/>
              <a:t>Pandas</a:t>
            </a:r>
            <a:r>
              <a:rPr lang="en-US" dirty="0"/>
              <a:t> is a </a:t>
            </a:r>
            <a:r>
              <a:rPr lang="en-US" b="1" dirty="0"/>
              <a:t>Python library</a:t>
            </a:r>
            <a:r>
              <a:rPr lang="en-US" dirty="0"/>
              <a:t> (or package) you can install and use within Python. It’s </a:t>
            </a:r>
            <a:r>
              <a:rPr lang="en-US" b="1" dirty="0"/>
              <a:t>not a separate tool</a:t>
            </a:r>
            <a:r>
              <a:rPr lang="en-US" dirty="0"/>
              <a:t>; it works inside Python.</a:t>
            </a:r>
            <a:endParaRPr lang="de-DE" dirty="0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Jan 28 2026| ASTRAI | You-Lead Session| 1</a:t>
            </a:r>
            <a:endParaRPr lang="de-DE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82BD0D-B7A4-47C6-8E6C-9B76600D81DD}" type="slidenum">
              <a:rPr lang="de-DE" smtClean="0"/>
              <a:t>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8086680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Jan 28 2026| ASTRAI | You-Lead Session| 1</a:t>
            </a:r>
            <a:endParaRPr lang="de-DE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82BD0D-B7A4-47C6-8E6C-9B76600D81DD}" type="slidenum">
              <a:rPr lang="de-DE" smtClean="0"/>
              <a:t>2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6886356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This table represents traffic sensor measurements. Each row is one data record collected from a road sensor, and each column represents a different type of information such as speed and number of vehicles </a:t>
            </a:r>
          </a:p>
          <a:p>
            <a:endParaRPr lang="de-DE" dirty="0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Jan 28 2026| ASTRAI | You-Lead Session| 1</a:t>
            </a:r>
            <a:endParaRPr lang="de-DE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82BD0D-B7A4-47C6-8E6C-9B76600D81DD}" type="slidenum">
              <a:rPr lang="de-DE" smtClean="0"/>
              <a:t>11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6282503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df</a:t>
            </a:r>
            <a:r>
              <a:rPr lang="en-US" dirty="0"/>
              <a:t> is a variable name that stores a Pandas </a:t>
            </a:r>
            <a:r>
              <a:rPr lang="en-US" dirty="0" err="1"/>
              <a:t>DataFrame</a:t>
            </a:r>
            <a:r>
              <a:rPr lang="en-US" dirty="0"/>
              <a:t>, which is basically a table similar to Excel</a:t>
            </a:r>
          </a:p>
          <a:p>
            <a:r>
              <a:rPr lang="en-US" dirty="0"/>
              <a:t>Import the Pandas library and call it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pd</a:t>
            </a:r>
            <a:endParaRPr lang="de-DE" dirty="0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Jan 28 2026| ASTRAI | You-Lead Session| 1</a:t>
            </a:r>
            <a:endParaRPr lang="de-DE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82BD0D-B7A4-47C6-8E6C-9B76600D81DD}" type="slidenum">
              <a:rPr lang="de-DE" smtClean="0"/>
              <a:t>14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0388326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 the speed column, there is 1 missing value</a:t>
            </a:r>
            <a:endParaRPr lang="de-DE" dirty="0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Jan 28 2026| ASTRAI | You-Lead Session| 1</a:t>
            </a:r>
            <a:endParaRPr lang="de-DE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82BD0D-B7A4-47C6-8E6C-9B76600D81DD}" type="slidenum">
              <a:rPr lang="de-DE" smtClean="0"/>
              <a:t>15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0370408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df_valid is the cleaned version of the original dataset. It only contains values that follow our validation rules.</a:t>
            </a:r>
            <a:endParaRPr lang="de-DE" dirty="0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Jan 28 2026| ASTRAI | You-Lead Session| 1</a:t>
            </a:r>
            <a:endParaRPr lang="de-DE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82BD0D-B7A4-47C6-8E6C-9B76600D81DD}" type="slidenum">
              <a:rPr lang="de-DE" smtClean="0"/>
              <a:t>16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7318281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465836" y="650239"/>
            <a:ext cx="6459220" cy="46799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Jan 28 2026| ASTRAI | You-Lead Session| 1</a:t>
            </a:r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68C2F07-2BA7-458F-AFCD-82F0C49CEC6A}" type="datetime1">
              <a:rPr lang="en-US" smtClean="0"/>
              <a:t>1/25/2026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9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955"/>
              </a:lnSpc>
            </a:pPr>
            <a:r>
              <a:rPr dirty="0"/>
              <a:t>Nov 19</a:t>
            </a:r>
            <a:r>
              <a:rPr spc="-30" dirty="0"/>
              <a:t> </a:t>
            </a:r>
            <a:r>
              <a:rPr dirty="0"/>
              <a:t>2025</a:t>
            </a:r>
            <a:r>
              <a:rPr spc="165" dirty="0"/>
              <a:t> </a:t>
            </a:r>
            <a:r>
              <a:rPr dirty="0"/>
              <a:t>|</a:t>
            </a:r>
            <a:r>
              <a:rPr spc="185" dirty="0"/>
              <a:t> </a:t>
            </a:r>
            <a:r>
              <a:rPr dirty="0"/>
              <a:t>ASTRAI</a:t>
            </a:r>
            <a:r>
              <a:rPr spc="15" dirty="0"/>
              <a:t> </a:t>
            </a:r>
            <a:r>
              <a:rPr dirty="0"/>
              <a:t>|</a:t>
            </a:r>
            <a:r>
              <a:rPr spc="180" dirty="0"/>
              <a:t> </a:t>
            </a:r>
            <a:r>
              <a:rPr dirty="0"/>
              <a:t>W06</a:t>
            </a:r>
            <a:r>
              <a:rPr spc="-30" dirty="0"/>
              <a:t> </a:t>
            </a:r>
            <a:r>
              <a:rPr dirty="0"/>
              <a:t>|</a:t>
            </a:r>
            <a:r>
              <a:rPr spc="180" dirty="0"/>
              <a:t> </a:t>
            </a:r>
            <a:fld id="{81D60167-4931-47E6-BA6A-407CBD079E47}" type="slidenum">
              <a:rPr spc="-25" dirty="0"/>
              <a:t>‹Nr.›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8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Jan 28 2026| ASTRAI | You-Lead Session| 1</a:t>
            </a:r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455F84E-E22F-4D9B-8D28-473730B15B68}" type="datetime1">
              <a:rPr lang="en-US" smtClean="0"/>
              <a:t>1/25/2026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9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955"/>
              </a:lnSpc>
            </a:pPr>
            <a:r>
              <a:rPr dirty="0"/>
              <a:t>Nov 19</a:t>
            </a:r>
            <a:r>
              <a:rPr spc="-30" dirty="0"/>
              <a:t> </a:t>
            </a:r>
            <a:r>
              <a:rPr dirty="0"/>
              <a:t>2025</a:t>
            </a:r>
            <a:r>
              <a:rPr spc="165" dirty="0"/>
              <a:t> </a:t>
            </a:r>
            <a:r>
              <a:rPr dirty="0"/>
              <a:t>|</a:t>
            </a:r>
            <a:r>
              <a:rPr spc="185" dirty="0"/>
              <a:t> </a:t>
            </a:r>
            <a:r>
              <a:rPr dirty="0"/>
              <a:t>ASTRAI</a:t>
            </a:r>
            <a:r>
              <a:rPr spc="15" dirty="0"/>
              <a:t> </a:t>
            </a:r>
            <a:r>
              <a:rPr dirty="0"/>
              <a:t>|</a:t>
            </a:r>
            <a:r>
              <a:rPr spc="180" dirty="0"/>
              <a:t> </a:t>
            </a:r>
            <a:r>
              <a:rPr dirty="0"/>
              <a:t>W06</a:t>
            </a:r>
            <a:r>
              <a:rPr spc="-30" dirty="0"/>
              <a:t> </a:t>
            </a:r>
            <a:r>
              <a:rPr dirty="0"/>
              <a:t>|</a:t>
            </a:r>
            <a:r>
              <a:rPr spc="180" dirty="0"/>
              <a:t> </a:t>
            </a:r>
            <a:fld id="{81D60167-4931-47E6-BA6A-407CBD079E47}" type="slidenum">
              <a:rPr spc="-25" dirty="0"/>
              <a:t>‹Nr.›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Jan 28 2026| ASTRAI | You-Lead Session| 1</a:t>
            </a:r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8A9DD6E-CA73-4FA8-9013-348D2D556FAF}" type="datetime1">
              <a:rPr lang="en-US" smtClean="0"/>
              <a:t>1/25/2026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9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955"/>
              </a:lnSpc>
            </a:pPr>
            <a:r>
              <a:rPr dirty="0"/>
              <a:t>Nov 19</a:t>
            </a:r>
            <a:r>
              <a:rPr spc="-30" dirty="0"/>
              <a:t> </a:t>
            </a:r>
            <a:r>
              <a:rPr dirty="0"/>
              <a:t>2025</a:t>
            </a:r>
            <a:r>
              <a:rPr spc="165" dirty="0"/>
              <a:t> </a:t>
            </a:r>
            <a:r>
              <a:rPr dirty="0"/>
              <a:t>|</a:t>
            </a:r>
            <a:r>
              <a:rPr spc="185" dirty="0"/>
              <a:t> </a:t>
            </a:r>
            <a:r>
              <a:rPr dirty="0"/>
              <a:t>ASTRAI</a:t>
            </a:r>
            <a:r>
              <a:rPr spc="15" dirty="0"/>
              <a:t> </a:t>
            </a:r>
            <a:r>
              <a:rPr dirty="0"/>
              <a:t>|</a:t>
            </a:r>
            <a:r>
              <a:rPr spc="180" dirty="0"/>
              <a:t> </a:t>
            </a:r>
            <a:r>
              <a:rPr dirty="0"/>
              <a:t>W06</a:t>
            </a:r>
            <a:r>
              <a:rPr spc="-30" dirty="0"/>
              <a:t> </a:t>
            </a:r>
            <a:r>
              <a:rPr dirty="0"/>
              <a:t>|</a:t>
            </a:r>
            <a:r>
              <a:rPr spc="180" dirty="0"/>
              <a:t> </a:t>
            </a:r>
            <a:fld id="{81D60167-4931-47E6-BA6A-407CBD079E47}" type="slidenum">
              <a:rPr spc="-25" dirty="0"/>
              <a:t>‹Nr.›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Jan 28 2026| ASTRAI | You-Lead Session| 1</a:t>
            </a:r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50B2E52-A124-4291-BA14-4D228CB63F23}" type="datetime1">
              <a:rPr lang="en-US" smtClean="0"/>
              <a:t>1/25/2026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9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955"/>
              </a:lnSpc>
            </a:pPr>
            <a:r>
              <a:rPr dirty="0"/>
              <a:t>Nov 19</a:t>
            </a:r>
            <a:r>
              <a:rPr spc="-30" dirty="0"/>
              <a:t> </a:t>
            </a:r>
            <a:r>
              <a:rPr dirty="0"/>
              <a:t>2025</a:t>
            </a:r>
            <a:r>
              <a:rPr spc="165" dirty="0"/>
              <a:t> </a:t>
            </a:r>
            <a:r>
              <a:rPr dirty="0"/>
              <a:t>|</a:t>
            </a:r>
            <a:r>
              <a:rPr spc="185" dirty="0"/>
              <a:t> </a:t>
            </a:r>
            <a:r>
              <a:rPr dirty="0"/>
              <a:t>ASTRAI</a:t>
            </a:r>
            <a:r>
              <a:rPr spc="15" dirty="0"/>
              <a:t> </a:t>
            </a:r>
            <a:r>
              <a:rPr dirty="0"/>
              <a:t>|</a:t>
            </a:r>
            <a:r>
              <a:rPr spc="180" dirty="0"/>
              <a:t> </a:t>
            </a:r>
            <a:r>
              <a:rPr dirty="0"/>
              <a:t>W06</a:t>
            </a:r>
            <a:r>
              <a:rPr spc="-30" dirty="0"/>
              <a:t> </a:t>
            </a:r>
            <a:r>
              <a:rPr dirty="0"/>
              <a:t>|</a:t>
            </a:r>
            <a:r>
              <a:rPr spc="180" dirty="0"/>
              <a:t> </a:t>
            </a:r>
            <a:fld id="{81D60167-4931-47E6-BA6A-407CBD079E47}" type="slidenum">
              <a:rPr spc="-25" dirty="0"/>
              <a:t>‹Nr.›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334429" y="196913"/>
            <a:ext cx="11521440" cy="144780"/>
          </a:xfrm>
          <a:custGeom>
            <a:avLst/>
            <a:gdLst/>
            <a:ahLst/>
            <a:cxnLst/>
            <a:rect l="l" t="t" r="r" b="b"/>
            <a:pathLst>
              <a:path w="11521440" h="144779">
                <a:moveTo>
                  <a:pt x="11521059" y="0"/>
                </a:moveTo>
                <a:lnTo>
                  <a:pt x="0" y="0"/>
                </a:lnTo>
                <a:lnTo>
                  <a:pt x="0" y="144462"/>
                </a:lnTo>
                <a:lnTo>
                  <a:pt x="11521059" y="144462"/>
                </a:lnTo>
                <a:lnTo>
                  <a:pt x="11521059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334429" y="366712"/>
            <a:ext cx="11521440" cy="14604"/>
          </a:xfrm>
          <a:custGeom>
            <a:avLst/>
            <a:gdLst/>
            <a:ahLst/>
            <a:cxnLst/>
            <a:rect l="l" t="t" r="r" b="b"/>
            <a:pathLst>
              <a:path w="11521440" h="14604">
                <a:moveTo>
                  <a:pt x="11521059" y="0"/>
                </a:moveTo>
                <a:lnTo>
                  <a:pt x="0" y="0"/>
                </a:lnTo>
                <a:lnTo>
                  <a:pt x="0" y="14287"/>
                </a:lnTo>
                <a:lnTo>
                  <a:pt x="11521059" y="14287"/>
                </a:lnTo>
                <a:lnTo>
                  <a:pt x="1152105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8" name="bg object 1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323198" y="511581"/>
            <a:ext cx="1889760" cy="721969"/>
          </a:xfrm>
          <a:prstGeom prst="rect">
            <a:avLst/>
          </a:prstGeom>
        </p:spPr>
      </p:pic>
      <p:pic>
        <p:nvPicPr>
          <p:cNvPr id="19" name="bg object 1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277347" y="511594"/>
            <a:ext cx="1578102" cy="576922"/>
          </a:xfrm>
          <a:prstGeom prst="rect">
            <a:avLst/>
          </a:prstGeom>
        </p:spPr>
      </p:pic>
      <p:pic>
        <p:nvPicPr>
          <p:cNvPr id="20" name="bg object 20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31938" y="2100579"/>
            <a:ext cx="5423916" cy="3079115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Jan 28 2026| ASTRAI | You-Lead Session| 1</a:t>
            </a:r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616D374-E0A3-443C-A1EF-84CEB76202D7}" type="datetime1">
              <a:rPr lang="en-US" smtClean="0"/>
              <a:t>1/25/2026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9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955"/>
              </a:lnSpc>
            </a:pPr>
            <a:r>
              <a:rPr dirty="0"/>
              <a:t>Nov 19</a:t>
            </a:r>
            <a:r>
              <a:rPr spc="-30" dirty="0"/>
              <a:t> </a:t>
            </a:r>
            <a:r>
              <a:rPr dirty="0"/>
              <a:t>2025</a:t>
            </a:r>
            <a:r>
              <a:rPr spc="165" dirty="0"/>
              <a:t> </a:t>
            </a:r>
            <a:r>
              <a:rPr dirty="0"/>
              <a:t>|</a:t>
            </a:r>
            <a:r>
              <a:rPr spc="185" dirty="0"/>
              <a:t> </a:t>
            </a:r>
            <a:r>
              <a:rPr dirty="0"/>
              <a:t>ASTRAI</a:t>
            </a:r>
            <a:r>
              <a:rPr spc="15" dirty="0"/>
              <a:t> </a:t>
            </a:r>
            <a:r>
              <a:rPr dirty="0"/>
              <a:t>|</a:t>
            </a:r>
            <a:r>
              <a:rPr spc="180" dirty="0"/>
              <a:t> </a:t>
            </a:r>
            <a:r>
              <a:rPr dirty="0"/>
              <a:t>W06</a:t>
            </a:r>
            <a:r>
              <a:rPr spc="-30" dirty="0"/>
              <a:t> </a:t>
            </a:r>
            <a:r>
              <a:rPr dirty="0"/>
              <a:t>|</a:t>
            </a:r>
            <a:r>
              <a:rPr spc="180" dirty="0"/>
              <a:t> </a:t>
            </a:r>
            <a:fld id="{81D60167-4931-47E6-BA6A-407CBD079E47}" type="slidenum">
              <a:rPr spc="-25" dirty="0"/>
              <a:t>‹Nr.›</a:t>
            </a:fld>
            <a:endParaRPr spc="-25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jp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334429" y="196913"/>
            <a:ext cx="11521440" cy="144780"/>
          </a:xfrm>
          <a:custGeom>
            <a:avLst/>
            <a:gdLst/>
            <a:ahLst/>
            <a:cxnLst/>
            <a:rect l="l" t="t" r="r" b="b"/>
            <a:pathLst>
              <a:path w="11521440" h="144779">
                <a:moveTo>
                  <a:pt x="11521059" y="0"/>
                </a:moveTo>
                <a:lnTo>
                  <a:pt x="0" y="0"/>
                </a:lnTo>
                <a:lnTo>
                  <a:pt x="0" y="144462"/>
                </a:lnTo>
                <a:lnTo>
                  <a:pt x="11521059" y="144462"/>
                </a:lnTo>
                <a:lnTo>
                  <a:pt x="11521059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334429" y="366712"/>
            <a:ext cx="11521440" cy="14604"/>
          </a:xfrm>
          <a:custGeom>
            <a:avLst/>
            <a:gdLst/>
            <a:ahLst/>
            <a:cxnLst/>
            <a:rect l="l" t="t" r="r" b="b"/>
            <a:pathLst>
              <a:path w="11521440" h="14604">
                <a:moveTo>
                  <a:pt x="11521059" y="0"/>
                </a:moveTo>
                <a:lnTo>
                  <a:pt x="0" y="0"/>
                </a:lnTo>
                <a:lnTo>
                  <a:pt x="0" y="14287"/>
                </a:lnTo>
                <a:lnTo>
                  <a:pt x="11521059" y="14287"/>
                </a:lnTo>
                <a:lnTo>
                  <a:pt x="1152105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8" name="bg object 18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8323198" y="511581"/>
            <a:ext cx="1889760" cy="721969"/>
          </a:xfrm>
          <a:prstGeom prst="rect">
            <a:avLst/>
          </a:prstGeom>
        </p:spPr>
      </p:pic>
      <p:pic>
        <p:nvPicPr>
          <p:cNvPr id="19" name="bg object 19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0277347" y="511594"/>
            <a:ext cx="1578102" cy="576922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66166" y="528574"/>
            <a:ext cx="6612229" cy="7115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4084446" y="1735582"/>
            <a:ext cx="7738745" cy="44157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Jan 28 2026| ASTRAI | You-Lead Session| 1</a:t>
            </a:r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3D1670A-3279-4678-9C9E-808DBFBF0817}" type="datetime1">
              <a:rPr lang="en-US" smtClean="0"/>
              <a:t>1/25/2026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321665" y="6545300"/>
            <a:ext cx="1705610" cy="1397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9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955"/>
              </a:lnSpc>
            </a:pPr>
            <a:r>
              <a:rPr dirty="0"/>
              <a:t>Nov 19</a:t>
            </a:r>
            <a:r>
              <a:rPr spc="-30" dirty="0"/>
              <a:t> </a:t>
            </a:r>
            <a:r>
              <a:rPr dirty="0"/>
              <a:t>2025</a:t>
            </a:r>
            <a:r>
              <a:rPr spc="165" dirty="0"/>
              <a:t> </a:t>
            </a:r>
            <a:r>
              <a:rPr dirty="0"/>
              <a:t>|</a:t>
            </a:r>
            <a:r>
              <a:rPr spc="185" dirty="0"/>
              <a:t> </a:t>
            </a:r>
            <a:r>
              <a:rPr dirty="0"/>
              <a:t>ASTRAI</a:t>
            </a:r>
            <a:r>
              <a:rPr spc="15" dirty="0"/>
              <a:t> </a:t>
            </a:r>
            <a:r>
              <a:rPr dirty="0"/>
              <a:t>|</a:t>
            </a:r>
            <a:r>
              <a:rPr spc="180" dirty="0"/>
              <a:t> </a:t>
            </a:r>
            <a:r>
              <a:rPr dirty="0"/>
              <a:t>W06</a:t>
            </a:r>
            <a:r>
              <a:rPr spc="-30" dirty="0"/>
              <a:t> </a:t>
            </a:r>
            <a:r>
              <a:rPr dirty="0"/>
              <a:t>|</a:t>
            </a:r>
            <a:r>
              <a:rPr spc="180" dirty="0"/>
              <a:t> </a:t>
            </a:r>
            <a:fld id="{81D60167-4931-47E6-BA6A-407CBD079E47}" type="slidenum">
              <a:rPr spc="-25" dirty="0"/>
              <a:t>‹Nr.›</a:t>
            </a:fld>
            <a:endParaRPr spc="-25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hf hdr="0" ftr="0" dt="0"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-8467" y="0"/>
            <a:ext cx="12191998" cy="6857995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282956" y="1253490"/>
            <a:ext cx="16668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dirty="0">
                <a:solidFill>
                  <a:srgbClr val="FFFFFF"/>
                </a:solidFill>
                <a:latin typeface="Calibri"/>
                <a:cs typeface="Calibri"/>
              </a:rPr>
              <a:t>Imen Meftah</a:t>
            </a:r>
            <a:endParaRPr sz="1800" dirty="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82956" y="412241"/>
            <a:ext cx="4457065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b="1" dirty="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sz="1400" b="1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FFFFFF"/>
                </a:solidFill>
                <a:latin typeface="Calibri"/>
                <a:cs typeface="Calibri"/>
              </a:rPr>
              <a:t>Art</a:t>
            </a:r>
            <a:r>
              <a:rPr sz="1400" b="1" spc="-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FFFFFF"/>
                </a:solidFill>
                <a:latin typeface="Calibri"/>
                <a:cs typeface="Calibri"/>
              </a:rPr>
              <a:t>and</a:t>
            </a:r>
            <a:r>
              <a:rPr sz="1400" b="1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FFFFFF"/>
                </a:solidFill>
                <a:latin typeface="Calibri"/>
                <a:cs typeface="Calibri"/>
              </a:rPr>
              <a:t>Science</a:t>
            </a:r>
            <a:r>
              <a:rPr sz="1400" b="1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FFFFFF"/>
                </a:solidFill>
                <a:latin typeface="Calibri"/>
                <a:cs typeface="Calibri"/>
              </a:rPr>
              <a:t>of</a:t>
            </a:r>
            <a:r>
              <a:rPr sz="1400" b="1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b="1" spc="-10" dirty="0">
                <a:solidFill>
                  <a:srgbClr val="FFFFFF"/>
                </a:solidFill>
                <a:latin typeface="Calibri"/>
                <a:cs typeface="Calibri"/>
              </a:rPr>
              <a:t>Transportation</a:t>
            </a:r>
            <a:r>
              <a:rPr sz="1400" b="1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FFFFFF"/>
                </a:solidFill>
                <a:latin typeface="Calibri"/>
                <a:cs typeface="Calibri"/>
              </a:rPr>
              <a:t>Research</a:t>
            </a:r>
            <a:r>
              <a:rPr sz="1400" b="1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FFFFFF"/>
                </a:solidFill>
                <a:latin typeface="Calibri"/>
                <a:cs typeface="Calibri"/>
              </a:rPr>
              <a:t>in the</a:t>
            </a:r>
            <a:r>
              <a:rPr sz="1400" b="1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FFFFFF"/>
                </a:solidFill>
                <a:latin typeface="Calibri"/>
                <a:cs typeface="Calibri"/>
              </a:rPr>
              <a:t>AI</a:t>
            </a:r>
            <a:r>
              <a:rPr sz="1400" b="1" spc="-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b="1" spc="-25" dirty="0">
                <a:solidFill>
                  <a:srgbClr val="FFFFFF"/>
                </a:solidFill>
                <a:latin typeface="Calibri"/>
                <a:cs typeface="Calibri"/>
              </a:rPr>
              <a:t>Era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82956" y="614629"/>
            <a:ext cx="5147310" cy="44307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de-DE" sz="2800" dirty="0"/>
              <a:t>Data Validation With Pandas</a:t>
            </a:r>
            <a:endParaRPr sz="2800" dirty="0">
              <a:latin typeface="Calibri"/>
              <a:cs typeface="Calibri"/>
            </a:endParaRPr>
          </a:p>
        </p:txBody>
      </p:sp>
      <p:sp>
        <p:nvSpPr>
          <p:cNvPr id="8" name="Foliennummernplatzhalter 7">
            <a:extLst>
              <a:ext uri="{FF2B5EF4-FFF2-40B4-BE49-F238E27FC236}">
                <a16:creationId xmlns:a16="http://schemas.microsoft.com/office/drawing/2014/main" id="{3138CE2F-82D9-BFEF-9501-39A37C1A2DB4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685800" y="6645224"/>
            <a:ext cx="2269135" cy="136772"/>
          </a:xfrm>
        </p:spPr>
        <p:txBody>
          <a:bodyPr/>
          <a:lstStyle/>
          <a:p>
            <a:pPr marL="12700">
              <a:lnSpc>
                <a:spcPts val="955"/>
              </a:lnSpc>
            </a:pPr>
            <a:r>
              <a:rPr lang="en-US" dirty="0"/>
              <a:t>Jan 28 2026| ASTRAI | You-Lead Session|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66166" y="528574"/>
            <a:ext cx="6612229" cy="676723"/>
          </a:xfrm>
          <a:prstGeom prst="rect">
            <a:avLst/>
          </a:prstGeom>
        </p:spPr>
        <p:txBody>
          <a:bodyPr vert="horz" wrap="square" lIns="0" tIns="243458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de-DE" dirty="0"/>
              <a:t>AGENDA</a:t>
            </a:r>
            <a:endParaRPr spc="-10" dirty="0"/>
          </a:p>
        </p:txBody>
      </p:sp>
      <p:sp>
        <p:nvSpPr>
          <p:cNvPr id="3" name="object 3"/>
          <p:cNvSpPr txBox="1"/>
          <p:nvPr/>
        </p:nvSpPr>
        <p:spPr>
          <a:xfrm>
            <a:off x="2590798" y="1990725"/>
            <a:ext cx="9143995" cy="452155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882650" algn="l"/>
              </a:tabLst>
            </a:pPr>
            <a:r>
              <a:rPr sz="3200" b="1" spc="-25" dirty="0">
                <a:solidFill>
                  <a:srgbClr val="C00000"/>
                </a:solidFill>
                <a:latin typeface="Calibri"/>
                <a:cs typeface="Calibri"/>
              </a:rPr>
              <a:t>#1</a:t>
            </a:r>
            <a:r>
              <a:rPr sz="3200" b="1" dirty="0">
                <a:solidFill>
                  <a:srgbClr val="C00000"/>
                </a:solidFill>
                <a:latin typeface="Calibri"/>
                <a:cs typeface="Calibri"/>
              </a:rPr>
              <a:t>	</a:t>
            </a:r>
            <a:r>
              <a:rPr lang="de-DE" sz="2400" spc="-10" dirty="0">
                <a:latin typeface="Calibri"/>
                <a:cs typeface="Calibri"/>
              </a:rPr>
              <a:t>Why </a:t>
            </a:r>
            <a:r>
              <a:rPr lang="de-DE" sz="2400" spc="-10" dirty="0" err="1">
                <a:latin typeface="Calibri"/>
                <a:cs typeface="Calibri"/>
              </a:rPr>
              <a:t>data</a:t>
            </a:r>
            <a:r>
              <a:rPr lang="de-DE" sz="2400" spc="-10" dirty="0">
                <a:latin typeface="Calibri"/>
                <a:cs typeface="Calibri"/>
              </a:rPr>
              <a:t> </a:t>
            </a:r>
            <a:r>
              <a:rPr lang="de-DE" sz="2400" spc="-10" dirty="0" err="1">
                <a:latin typeface="Calibri"/>
                <a:cs typeface="Calibri"/>
              </a:rPr>
              <a:t>quality</a:t>
            </a:r>
            <a:r>
              <a:rPr lang="de-DE" sz="2400" spc="-10" dirty="0">
                <a:latin typeface="Calibri"/>
                <a:cs typeface="Calibri"/>
              </a:rPr>
              <a:t> </a:t>
            </a:r>
            <a:r>
              <a:rPr lang="de-DE" sz="2400" spc="-10" dirty="0" err="1">
                <a:latin typeface="Calibri"/>
                <a:cs typeface="Calibri"/>
              </a:rPr>
              <a:t>matters</a:t>
            </a:r>
            <a:endParaRPr sz="24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2875"/>
              </a:spcBef>
              <a:tabLst>
                <a:tab pos="882650" algn="l"/>
              </a:tabLst>
            </a:pPr>
            <a:r>
              <a:rPr sz="3200" b="1" spc="-25" dirty="0">
                <a:solidFill>
                  <a:srgbClr val="C00000"/>
                </a:solidFill>
                <a:latin typeface="Calibri"/>
                <a:cs typeface="Calibri"/>
              </a:rPr>
              <a:t>#2</a:t>
            </a:r>
            <a:r>
              <a:rPr sz="3200" b="1" dirty="0">
                <a:solidFill>
                  <a:srgbClr val="C00000"/>
                </a:solidFill>
                <a:latin typeface="Calibri"/>
                <a:cs typeface="Calibri"/>
              </a:rPr>
              <a:t>	</a:t>
            </a:r>
            <a:r>
              <a:rPr lang="de-DE" sz="2400" spc="-10" dirty="0" err="1">
                <a:latin typeface="Calibri"/>
                <a:cs typeface="Calibri"/>
              </a:rPr>
              <a:t>What</a:t>
            </a:r>
            <a:r>
              <a:rPr lang="de-DE" sz="2400" spc="-10" dirty="0">
                <a:latin typeface="Calibri"/>
                <a:cs typeface="Calibri"/>
              </a:rPr>
              <a:t> </a:t>
            </a:r>
            <a:r>
              <a:rPr lang="de-DE" sz="2400" spc="-10" dirty="0" err="1">
                <a:latin typeface="Calibri"/>
                <a:cs typeface="Calibri"/>
              </a:rPr>
              <a:t>is</a:t>
            </a:r>
            <a:r>
              <a:rPr lang="de-DE" sz="2400" spc="-10" dirty="0">
                <a:latin typeface="Calibri"/>
                <a:cs typeface="Calibri"/>
              </a:rPr>
              <a:t> </a:t>
            </a:r>
            <a:r>
              <a:rPr lang="de-DE" sz="2400" spc="-10" dirty="0" err="1">
                <a:latin typeface="Calibri"/>
                <a:cs typeface="Calibri"/>
              </a:rPr>
              <a:t>data</a:t>
            </a:r>
            <a:r>
              <a:rPr lang="de-DE" sz="2400" spc="-10" dirty="0">
                <a:latin typeface="Calibri"/>
                <a:cs typeface="Calibri"/>
              </a:rPr>
              <a:t> </a:t>
            </a:r>
            <a:r>
              <a:rPr lang="de-DE" sz="2400" spc="-10" dirty="0" err="1">
                <a:latin typeface="Calibri"/>
                <a:cs typeface="Calibri"/>
              </a:rPr>
              <a:t>validation</a:t>
            </a:r>
            <a:r>
              <a:rPr lang="de-DE" sz="2400" spc="-10" dirty="0">
                <a:latin typeface="Calibri"/>
                <a:cs typeface="Calibri"/>
              </a:rPr>
              <a:t>?</a:t>
            </a:r>
          </a:p>
          <a:p>
            <a:pPr marL="12700" marR="4023995">
              <a:lnSpc>
                <a:spcPct val="175000"/>
              </a:lnSpc>
              <a:spcBef>
                <a:spcPts val="5"/>
              </a:spcBef>
              <a:tabLst>
                <a:tab pos="882650" algn="l"/>
              </a:tabLst>
            </a:pPr>
            <a:r>
              <a:rPr sz="3200" b="1" spc="-25" dirty="0">
                <a:solidFill>
                  <a:srgbClr val="C00000"/>
                </a:solidFill>
                <a:latin typeface="Calibri"/>
                <a:cs typeface="Calibri"/>
              </a:rPr>
              <a:t>#3</a:t>
            </a:r>
            <a:r>
              <a:rPr sz="3200" b="1" dirty="0">
                <a:solidFill>
                  <a:srgbClr val="C00000"/>
                </a:solidFill>
                <a:latin typeface="Calibri"/>
                <a:cs typeface="Calibri"/>
              </a:rPr>
              <a:t>	</a:t>
            </a:r>
            <a:r>
              <a:rPr lang="de-DE" sz="2400" spc="-10" dirty="0">
                <a:latin typeface="Calibri"/>
                <a:cs typeface="Calibri"/>
              </a:rPr>
              <a:t>Real-</a:t>
            </a:r>
            <a:r>
              <a:rPr lang="de-DE" sz="2400" spc="-10" dirty="0" err="1">
                <a:latin typeface="Calibri"/>
                <a:cs typeface="Calibri"/>
              </a:rPr>
              <a:t>world</a:t>
            </a:r>
            <a:r>
              <a:rPr lang="de-DE" sz="2400" spc="-10" dirty="0">
                <a:latin typeface="Calibri"/>
                <a:cs typeface="Calibri"/>
              </a:rPr>
              <a:t> example (Traffic Data)</a:t>
            </a:r>
          </a:p>
          <a:p>
            <a:pPr marL="12700" marR="4023995">
              <a:lnSpc>
                <a:spcPct val="175000"/>
              </a:lnSpc>
              <a:spcBef>
                <a:spcPts val="5"/>
              </a:spcBef>
              <a:tabLst>
                <a:tab pos="882650" algn="l"/>
              </a:tabLst>
            </a:pPr>
            <a:r>
              <a:rPr sz="3200" b="1" spc="-25" dirty="0">
                <a:solidFill>
                  <a:srgbClr val="C00000"/>
                </a:solidFill>
                <a:latin typeface="Calibri"/>
                <a:cs typeface="Calibri"/>
              </a:rPr>
              <a:t>#4</a:t>
            </a:r>
            <a:r>
              <a:rPr sz="3200" b="1" dirty="0">
                <a:solidFill>
                  <a:srgbClr val="C00000"/>
                </a:solidFill>
                <a:latin typeface="Calibri"/>
                <a:cs typeface="Calibri"/>
              </a:rPr>
              <a:t>	</a:t>
            </a:r>
            <a:r>
              <a:rPr lang="de-DE" sz="2400" dirty="0">
                <a:latin typeface="Calibri"/>
                <a:cs typeface="Calibri"/>
              </a:rPr>
              <a:t>Live </a:t>
            </a:r>
            <a:r>
              <a:rPr lang="de-DE" sz="2400" dirty="0" err="1">
                <a:latin typeface="Calibri"/>
                <a:cs typeface="Calibri"/>
              </a:rPr>
              <a:t>demo</a:t>
            </a:r>
            <a:r>
              <a:rPr lang="de-DE" sz="2400" dirty="0">
                <a:latin typeface="Calibri"/>
                <a:cs typeface="Calibri"/>
              </a:rPr>
              <a:t> </a:t>
            </a:r>
            <a:r>
              <a:rPr lang="de-DE" sz="2400" dirty="0" err="1">
                <a:latin typeface="Calibri"/>
                <a:cs typeface="Calibri"/>
              </a:rPr>
              <a:t>with</a:t>
            </a:r>
            <a:r>
              <a:rPr lang="de-DE" sz="2400" dirty="0">
                <a:latin typeface="Calibri"/>
                <a:cs typeface="Calibri"/>
              </a:rPr>
              <a:t> Pandas</a:t>
            </a:r>
            <a:endParaRPr lang="en-US" sz="2400" spc="-20" dirty="0">
              <a:latin typeface="Calibri"/>
              <a:cs typeface="Calibri"/>
            </a:endParaRPr>
          </a:p>
          <a:p>
            <a:pPr marL="12700" marR="4023995">
              <a:lnSpc>
                <a:spcPct val="175000"/>
              </a:lnSpc>
              <a:spcBef>
                <a:spcPts val="5"/>
              </a:spcBef>
              <a:tabLst>
                <a:tab pos="882650" algn="l"/>
              </a:tabLst>
            </a:pPr>
            <a:r>
              <a:rPr sz="3200" b="1" spc="-25" dirty="0">
                <a:solidFill>
                  <a:srgbClr val="C00000"/>
                </a:solidFill>
                <a:latin typeface="Calibri"/>
                <a:cs typeface="Calibri"/>
              </a:rPr>
              <a:t>#5</a:t>
            </a:r>
            <a:r>
              <a:rPr sz="3200" b="1" dirty="0">
                <a:solidFill>
                  <a:srgbClr val="C00000"/>
                </a:solidFill>
                <a:latin typeface="Calibri"/>
                <a:cs typeface="Calibri"/>
              </a:rPr>
              <a:t>	</a:t>
            </a:r>
            <a:r>
              <a:rPr lang="de-DE" sz="2400" spc="-20" dirty="0">
                <a:latin typeface="Calibri"/>
                <a:cs typeface="Calibri"/>
              </a:rPr>
              <a:t>Key takeaways</a:t>
            </a:r>
          </a:p>
          <a:p>
            <a:pPr marL="12700" marR="4023995">
              <a:lnSpc>
                <a:spcPct val="175000"/>
              </a:lnSpc>
              <a:spcBef>
                <a:spcPts val="5"/>
              </a:spcBef>
              <a:tabLst>
                <a:tab pos="882650" algn="l"/>
              </a:tabLst>
            </a:pPr>
            <a:endParaRPr sz="2400" dirty="0">
              <a:latin typeface="Calibri"/>
              <a:cs typeface="Calibri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3161664" y="1682876"/>
            <a:ext cx="0" cy="4620260"/>
          </a:xfrm>
          <a:custGeom>
            <a:avLst/>
            <a:gdLst/>
            <a:ahLst/>
            <a:cxnLst/>
            <a:rect l="l" t="t" r="r" b="b"/>
            <a:pathLst>
              <a:path h="4620260">
                <a:moveTo>
                  <a:pt x="0" y="0"/>
                </a:moveTo>
                <a:lnTo>
                  <a:pt x="0" y="4619955"/>
                </a:lnTo>
              </a:path>
            </a:pathLst>
          </a:custGeom>
          <a:ln w="19050">
            <a:solidFill>
              <a:srgbClr val="B3B3B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Foliennummernplatzhalter 7">
            <a:extLst>
              <a:ext uri="{FF2B5EF4-FFF2-40B4-BE49-F238E27FC236}">
                <a16:creationId xmlns:a16="http://schemas.microsoft.com/office/drawing/2014/main" id="{884E74F1-B44B-214B-D24C-350197FAA311}"/>
              </a:ext>
            </a:extLst>
          </p:cNvPr>
          <p:cNvSpPr txBox="1">
            <a:spLocks/>
          </p:cNvSpPr>
          <p:nvPr/>
        </p:nvSpPr>
        <p:spPr>
          <a:xfrm>
            <a:off x="685800" y="6645224"/>
            <a:ext cx="2269135" cy="1282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defPPr>
              <a:defRPr kern="0"/>
            </a:defPPr>
            <a:lvl1pPr>
              <a:defRPr sz="9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955"/>
              </a:lnSpc>
            </a:pPr>
            <a:r>
              <a:rPr lang="en-US" dirty="0"/>
              <a:t>Jan 28 2026| ASTRAI | You-Lead Session|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789885" y="3063387"/>
            <a:ext cx="6612229" cy="731226"/>
          </a:xfrm>
          <a:prstGeom prst="rect">
            <a:avLst/>
          </a:prstGeom>
        </p:spPr>
        <p:txBody>
          <a:bodyPr vert="horz" wrap="square" lIns="0" tIns="114554" rIns="0" bIns="0" rtlCol="0">
            <a:spAutoFit/>
          </a:bodyPr>
          <a:lstStyle/>
          <a:p>
            <a:pPr marL="12700" algn="l">
              <a:lnSpc>
                <a:spcPct val="100000"/>
              </a:lnSpc>
              <a:spcBef>
                <a:spcPts val="105"/>
              </a:spcBef>
              <a:tabLst>
                <a:tab pos="882650" algn="l"/>
              </a:tabLst>
            </a:pPr>
            <a:r>
              <a:rPr lang="en-US" sz="4000" dirty="0">
                <a:solidFill>
                  <a:srgbClr val="FF0000"/>
                </a:solidFill>
              </a:rPr>
              <a:t>	</a:t>
            </a:r>
            <a:r>
              <a:rPr lang="en-US" sz="3200" spc="-10" dirty="0">
                <a:solidFill>
                  <a:srgbClr val="FF0000"/>
                </a:solidFill>
              </a:rPr>
              <a:t>Why data quality matters</a:t>
            </a:r>
            <a:endParaRPr lang="en-US" sz="3200" dirty="0">
              <a:solidFill>
                <a:srgbClr val="FF0000"/>
              </a:solidFill>
            </a:endParaRPr>
          </a:p>
        </p:txBody>
      </p:sp>
      <p:sp>
        <p:nvSpPr>
          <p:cNvPr id="7" name="Foliennummernplatzhalter 7">
            <a:extLst>
              <a:ext uri="{FF2B5EF4-FFF2-40B4-BE49-F238E27FC236}">
                <a16:creationId xmlns:a16="http://schemas.microsoft.com/office/drawing/2014/main" id="{F4305545-C1B2-33B0-53F6-0508C275FB9E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685800" y="6645224"/>
            <a:ext cx="2269135" cy="128240"/>
          </a:xfrm>
        </p:spPr>
        <p:txBody>
          <a:bodyPr/>
          <a:lstStyle/>
          <a:p>
            <a:pPr marL="12700">
              <a:lnSpc>
                <a:spcPts val="955"/>
              </a:lnSpc>
            </a:pPr>
            <a:r>
              <a:rPr lang="en-US" dirty="0"/>
              <a:t>Jan 28 2026| ASTRAI | You-Lead Session| 3</a:t>
            </a:r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591FD900-1DE8-A881-20B4-7D376B4B0DBD}"/>
              </a:ext>
            </a:extLst>
          </p:cNvPr>
          <p:cNvSpPr txBox="1"/>
          <p:nvPr/>
        </p:nvSpPr>
        <p:spPr>
          <a:xfrm>
            <a:off x="533400" y="990600"/>
            <a:ext cx="76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0" lang="de-DE" sz="3200" b="1" i="0" u="none" strike="noStrike" kern="0" cap="none" spc="-25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/>
                <a:cs typeface="Calibri"/>
              </a:rPr>
              <a:t>#1</a:t>
            </a:r>
            <a:endParaRPr lang="de-DE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602D08-9622-E992-6108-BD2BBBAF0D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oliennummernplatzhalter 7">
            <a:extLst>
              <a:ext uri="{FF2B5EF4-FFF2-40B4-BE49-F238E27FC236}">
                <a16:creationId xmlns:a16="http://schemas.microsoft.com/office/drawing/2014/main" id="{E26FFC11-1D49-F214-AAA4-D5F73CB1309D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685800" y="6645224"/>
            <a:ext cx="2269135" cy="128240"/>
          </a:xfrm>
        </p:spPr>
        <p:txBody>
          <a:bodyPr/>
          <a:lstStyle/>
          <a:p>
            <a:pPr marL="12700">
              <a:lnSpc>
                <a:spcPts val="955"/>
              </a:lnSpc>
            </a:pPr>
            <a:r>
              <a:rPr lang="en-US" dirty="0"/>
              <a:t>Jan 28 2026| ASTRAI | You-Lead Session| 4</a:t>
            </a:r>
          </a:p>
        </p:txBody>
      </p:sp>
      <p:sp>
        <p:nvSpPr>
          <p:cNvPr id="16" name="Textfeld 15">
            <a:extLst>
              <a:ext uri="{FF2B5EF4-FFF2-40B4-BE49-F238E27FC236}">
                <a16:creationId xmlns:a16="http://schemas.microsoft.com/office/drawing/2014/main" id="{C29472DB-C214-9BFF-40D7-4D4A8D70A58C}"/>
              </a:ext>
            </a:extLst>
          </p:cNvPr>
          <p:cNvSpPr txBox="1"/>
          <p:nvPr/>
        </p:nvSpPr>
        <p:spPr>
          <a:xfrm>
            <a:off x="685800" y="1752600"/>
            <a:ext cx="3962400" cy="30008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kumimoji="0" lang="de-DE" altLang="de-DE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Negative </a:t>
            </a:r>
            <a:r>
              <a:rPr kumimoji="0" lang="de-DE" altLang="de-DE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values</a:t>
            </a:r>
            <a:endParaRPr kumimoji="0" lang="de-DE" altLang="de-DE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de-DE" altLang="de-DE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Missing</a:t>
            </a:r>
            <a:r>
              <a:rPr kumimoji="0" lang="de-DE" altLang="de-DE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de-DE" altLang="de-DE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</a:t>
            </a:r>
            <a:endParaRPr kumimoji="0" lang="de-DE" altLang="de-DE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de-DE" altLang="de-DE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Unrealistic</a:t>
            </a:r>
            <a:r>
              <a:rPr kumimoji="0" lang="de-DE" altLang="de-DE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de-DE" altLang="de-DE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numbers</a:t>
            </a:r>
            <a:endParaRPr kumimoji="0" lang="de-DE" altLang="de-DE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de-DE" altLang="de-DE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Unreliable</a:t>
            </a:r>
            <a:r>
              <a:rPr kumimoji="0" lang="de-DE" altLang="de-DE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de-DE" altLang="de-DE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results</a:t>
            </a:r>
            <a:endParaRPr kumimoji="0" lang="de-DE" altLang="de-DE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endParaRPr lang="en-US" dirty="0">
              <a:latin typeface="+mn-lt"/>
            </a:endParaRPr>
          </a:p>
          <a:p>
            <a:endParaRPr lang="en-US" dirty="0">
              <a:latin typeface="+mn-lt"/>
            </a:endParaRPr>
          </a:p>
        </p:txBody>
      </p:sp>
      <p:sp>
        <p:nvSpPr>
          <p:cNvPr id="17" name="Textfeld 16">
            <a:extLst>
              <a:ext uri="{FF2B5EF4-FFF2-40B4-BE49-F238E27FC236}">
                <a16:creationId xmlns:a16="http://schemas.microsoft.com/office/drawing/2014/main" id="{620EDCD3-0BCC-11D7-00D9-152F58860180}"/>
              </a:ext>
            </a:extLst>
          </p:cNvPr>
          <p:cNvSpPr txBox="1"/>
          <p:nvPr/>
        </p:nvSpPr>
        <p:spPr>
          <a:xfrm>
            <a:off x="457200" y="914400"/>
            <a:ext cx="4114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de-DE" dirty="0"/>
              <a:t>❌ </a:t>
            </a:r>
            <a:r>
              <a:rPr lang="de-DE" dirty="0" err="1"/>
              <a:t>Before</a:t>
            </a:r>
            <a:r>
              <a:rPr lang="de-DE" dirty="0"/>
              <a:t> Validation</a:t>
            </a:r>
            <a:endParaRPr lang="en-US" dirty="0">
              <a:latin typeface="+mj-lt"/>
            </a:endParaRPr>
          </a:p>
        </p:txBody>
      </p:sp>
      <p:sp>
        <p:nvSpPr>
          <p:cNvPr id="20" name="Rectangle 3">
            <a:extLst>
              <a:ext uri="{FF2B5EF4-FFF2-40B4-BE49-F238E27FC236}">
                <a16:creationId xmlns:a16="http://schemas.microsoft.com/office/drawing/2014/main" id="{A5ECD23E-4132-5083-7494-41F0B6477E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-32266"/>
            <a:ext cx="26481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de-DE" altLang="de-DE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22" name="Grafik 21">
            <a:extLst>
              <a:ext uri="{FF2B5EF4-FFF2-40B4-BE49-F238E27FC236}">
                <a16:creationId xmlns:a16="http://schemas.microsoft.com/office/drawing/2014/main" id="{17EEADAA-5114-EEB6-52C8-576430926E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2929424"/>
            <a:ext cx="4800600" cy="3200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05628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E669DB-A6F8-9BE0-0284-214E5CDBAC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oliennummernplatzhalter 7">
            <a:extLst>
              <a:ext uri="{FF2B5EF4-FFF2-40B4-BE49-F238E27FC236}">
                <a16:creationId xmlns:a16="http://schemas.microsoft.com/office/drawing/2014/main" id="{87DB5090-7518-4A33-6609-ED84BB357F89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685800" y="6645224"/>
            <a:ext cx="2269135" cy="128240"/>
          </a:xfrm>
        </p:spPr>
        <p:txBody>
          <a:bodyPr/>
          <a:lstStyle/>
          <a:p>
            <a:pPr marL="12700">
              <a:lnSpc>
                <a:spcPts val="955"/>
              </a:lnSpc>
            </a:pPr>
            <a:r>
              <a:rPr lang="en-US" dirty="0"/>
              <a:t>Jan 28 2026| ASTRAI | You-Lead Session| 5</a:t>
            </a:r>
          </a:p>
        </p:txBody>
      </p:sp>
      <p:pic>
        <p:nvPicPr>
          <p:cNvPr id="14" name="Grafik 13">
            <a:extLst>
              <a:ext uri="{FF2B5EF4-FFF2-40B4-BE49-F238E27FC236}">
                <a16:creationId xmlns:a16="http://schemas.microsoft.com/office/drawing/2014/main" id="{0837380D-C95D-900B-2067-FDB00A3A38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1834" y="2819400"/>
            <a:ext cx="5035766" cy="3294530"/>
          </a:xfrm>
          <a:prstGeom prst="rect">
            <a:avLst/>
          </a:prstGeom>
        </p:spPr>
      </p:pic>
      <p:sp>
        <p:nvSpPr>
          <p:cNvPr id="16" name="Textfeld 15">
            <a:extLst>
              <a:ext uri="{FF2B5EF4-FFF2-40B4-BE49-F238E27FC236}">
                <a16:creationId xmlns:a16="http://schemas.microsoft.com/office/drawing/2014/main" id="{F327438D-606D-D2AD-E153-086E0BD581DD}"/>
              </a:ext>
            </a:extLst>
          </p:cNvPr>
          <p:cNvSpPr txBox="1"/>
          <p:nvPr/>
        </p:nvSpPr>
        <p:spPr>
          <a:xfrm>
            <a:off x="914400" y="2967335"/>
            <a:ext cx="39624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+mn-lt"/>
              </a:rPr>
              <a:t>When you trust raw data without validation…</a:t>
            </a:r>
            <a:br>
              <a:rPr lang="en-US" dirty="0">
                <a:latin typeface="+mn-lt"/>
              </a:rPr>
            </a:br>
            <a:r>
              <a:rPr lang="en-US" dirty="0">
                <a:latin typeface="+mn-lt"/>
              </a:rPr>
              <a:t>And your results make no sense 😅</a:t>
            </a:r>
          </a:p>
        </p:txBody>
      </p:sp>
      <p:sp>
        <p:nvSpPr>
          <p:cNvPr id="17" name="Textfeld 16">
            <a:extLst>
              <a:ext uri="{FF2B5EF4-FFF2-40B4-BE49-F238E27FC236}">
                <a16:creationId xmlns:a16="http://schemas.microsoft.com/office/drawing/2014/main" id="{17563BC3-BB0D-E173-956B-56CD2585CB09}"/>
              </a:ext>
            </a:extLst>
          </p:cNvPr>
          <p:cNvSpPr txBox="1"/>
          <p:nvPr/>
        </p:nvSpPr>
        <p:spPr>
          <a:xfrm>
            <a:off x="457200" y="914400"/>
            <a:ext cx="4114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+mj-lt"/>
              </a:rPr>
              <a:t>Can We Really Trust Our Data? 🤔</a:t>
            </a:r>
            <a:endParaRPr lang="en-US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6672993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21D72B-2B73-71BA-D297-62957E8F1B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oliennummernplatzhalter 7">
            <a:extLst>
              <a:ext uri="{FF2B5EF4-FFF2-40B4-BE49-F238E27FC236}">
                <a16:creationId xmlns:a16="http://schemas.microsoft.com/office/drawing/2014/main" id="{9C0248C5-6F64-3F1C-62DA-57A368E7C907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685800" y="6645224"/>
            <a:ext cx="2269135" cy="128240"/>
          </a:xfrm>
        </p:spPr>
        <p:txBody>
          <a:bodyPr/>
          <a:lstStyle/>
          <a:p>
            <a:pPr marL="12700">
              <a:lnSpc>
                <a:spcPts val="955"/>
              </a:lnSpc>
            </a:pPr>
            <a:r>
              <a:rPr lang="en-US" dirty="0"/>
              <a:t>Jan 28 2026| ASTRAI | You-Lead Session| 6</a:t>
            </a:r>
          </a:p>
        </p:txBody>
      </p:sp>
      <p:sp>
        <p:nvSpPr>
          <p:cNvPr id="16" name="Textfeld 15">
            <a:extLst>
              <a:ext uri="{FF2B5EF4-FFF2-40B4-BE49-F238E27FC236}">
                <a16:creationId xmlns:a16="http://schemas.microsoft.com/office/drawing/2014/main" id="{9387030C-EEEE-4705-8490-340477D03276}"/>
              </a:ext>
            </a:extLst>
          </p:cNvPr>
          <p:cNvSpPr txBox="1"/>
          <p:nvPr/>
        </p:nvSpPr>
        <p:spPr>
          <a:xfrm>
            <a:off x="653716" y="1928589"/>
            <a:ext cx="3962400" cy="30008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de-DE" altLang="de-DE" dirty="0">
                <a:solidFill>
                  <a:schemeClr val="tx1"/>
                </a:solidFill>
                <a:latin typeface="Arial" panose="020B0604020202020204" pitchFamily="34" charset="0"/>
              </a:rPr>
              <a:t>Clean </a:t>
            </a:r>
            <a:r>
              <a:rPr lang="de-DE" altLang="de-DE" dirty="0" err="1">
                <a:solidFill>
                  <a:schemeClr val="tx1"/>
                </a:solidFill>
                <a:latin typeface="Arial" panose="020B0604020202020204" pitchFamily="34" charset="0"/>
              </a:rPr>
              <a:t>values</a:t>
            </a:r>
            <a:endParaRPr lang="de-DE" altLang="de-DE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de-DE" altLang="de-DE" dirty="0">
                <a:solidFill>
                  <a:schemeClr val="tx1"/>
                </a:solidFill>
                <a:latin typeface="Arial" panose="020B0604020202020204" pitchFamily="34" charset="0"/>
              </a:rPr>
              <a:t>Logical </a:t>
            </a:r>
            <a:r>
              <a:rPr lang="de-DE" altLang="de-DE" dirty="0" err="1">
                <a:solidFill>
                  <a:schemeClr val="tx1"/>
                </a:solidFill>
                <a:latin typeface="Arial" panose="020B0604020202020204" pitchFamily="34" charset="0"/>
              </a:rPr>
              <a:t>ranges</a:t>
            </a:r>
            <a:endParaRPr lang="de-DE" altLang="de-DE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de-DE" altLang="de-DE" dirty="0" err="1">
                <a:solidFill>
                  <a:schemeClr val="tx1"/>
                </a:solidFill>
                <a:latin typeface="Arial" panose="020B0604020202020204" pitchFamily="34" charset="0"/>
              </a:rPr>
              <a:t>Consistent</a:t>
            </a:r>
            <a:r>
              <a:rPr lang="de-DE" altLang="de-DE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de-DE" altLang="de-DE" dirty="0" err="1">
                <a:solidFill>
                  <a:schemeClr val="tx1"/>
                </a:solidFill>
                <a:latin typeface="Arial" panose="020B0604020202020204" pitchFamily="34" charset="0"/>
              </a:rPr>
              <a:t>data</a:t>
            </a:r>
            <a:endParaRPr lang="de-DE" altLang="de-DE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de-DE" altLang="de-DE" dirty="0">
                <a:solidFill>
                  <a:schemeClr val="tx1"/>
                </a:solidFill>
                <a:latin typeface="Arial" panose="020B0604020202020204" pitchFamily="34" charset="0"/>
              </a:rPr>
              <a:t>Ready </a:t>
            </a:r>
            <a:r>
              <a:rPr lang="de-DE" altLang="de-DE" dirty="0" err="1">
                <a:solidFill>
                  <a:schemeClr val="tx1"/>
                </a:solidFill>
                <a:latin typeface="Arial" panose="020B0604020202020204" pitchFamily="34" charset="0"/>
              </a:rPr>
              <a:t>for</a:t>
            </a:r>
            <a:r>
              <a:rPr lang="de-DE" altLang="de-DE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de-DE" altLang="de-DE" dirty="0" err="1">
                <a:solidFill>
                  <a:schemeClr val="tx1"/>
                </a:solidFill>
                <a:latin typeface="Arial" panose="020B0604020202020204" pitchFamily="34" charset="0"/>
              </a:rPr>
              <a:t>analysis</a:t>
            </a:r>
            <a:endParaRPr lang="de-DE" altLang="de-DE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endParaRPr lang="en-US" dirty="0">
              <a:latin typeface="+mn-lt"/>
            </a:endParaRPr>
          </a:p>
          <a:p>
            <a:endParaRPr lang="en-US" dirty="0">
              <a:latin typeface="+mn-lt"/>
            </a:endParaRPr>
          </a:p>
        </p:txBody>
      </p:sp>
      <p:sp>
        <p:nvSpPr>
          <p:cNvPr id="17" name="Textfeld 16">
            <a:extLst>
              <a:ext uri="{FF2B5EF4-FFF2-40B4-BE49-F238E27FC236}">
                <a16:creationId xmlns:a16="http://schemas.microsoft.com/office/drawing/2014/main" id="{93016C90-3F65-43BB-DC9E-A43E52F8D53A}"/>
              </a:ext>
            </a:extLst>
          </p:cNvPr>
          <p:cNvSpPr txBox="1"/>
          <p:nvPr/>
        </p:nvSpPr>
        <p:spPr>
          <a:xfrm>
            <a:off x="457200" y="914400"/>
            <a:ext cx="4114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de-DE" dirty="0"/>
              <a:t>✅ After Validation</a:t>
            </a:r>
            <a:endParaRPr lang="en-US" dirty="0">
              <a:latin typeface="+mj-lt"/>
            </a:endParaRP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7C4E0CEC-8E34-EF22-BF75-35242AF7675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26481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de-DE" altLang="de-DE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0" name="Grafik 9">
            <a:extLst>
              <a:ext uri="{FF2B5EF4-FFF2-40B4-BE49-F238E27FC236}">
                <a16:creationId xmlns:a16="http://schemas.microsoft.com/office/drawing/2014/main" id="{221C9E79-2866-E492-40C0-79180E195F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9400" y="2898558"/>
            <a:ext cx="4921807" cy="33818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20428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967447-9722-5A6F-4C7E-09B9582DBE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2763BB40-DCD3-1543-E3D0-09205AE4B01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789885" y="3063387"/>
            <a:ext cx="6612229" cy="731226"/>
          </a:xfrm>
          <a:prstGeom prst="rect">
            <a:avLst/>
          </a:prstGeom>
        </p:spPr>
        <p:txBody>
          <a:bodyPr vert="horz" wrap="square" lIns="0" tIns="114554" rIns="0" bIns="0" rtlCol="0">
            <a:spAutoFit/>
          </a:bodyPr>
          <a:lstStyle/>
          <a:p>
            <a:pPr marL="12700" algn="l">
              <a:lnSpc>
                <a:spcPct val="100000"/>
              </a:lnSpc>
              <a:spcBef>
                <a:spcPts val="105"/>
              </a:spcBef>
              <a:tabLst>
                <a:tab pos="882650" algn="l"/>
              </a:tabLst>
            </a:pPr>
            <a:r>
              <a:rPr lang="en-US" sz="4000" dirty="0">
                <a:solidFill>
                  <a:srgbClr val="C00000"/>
                </a:solidFill>
              </a:rPr>
              <a:t>What is Data Validation?</a:t>
            </a:r>
            <a:endParaRPr lang="en-US" sz="3200" dirty="0">
              <a:solidFill>
                <a:srgbClr val="C00000"/>
              </a:solidFill>
            </a:endParaRPr>
          </a:p>
        </p:txBody>
      </p:sp>
      <p:sp>
        <p:nvSpPr>
          <p:cNvPr id="7" name="Foliennummernplatzhalter 7">
            <a:extLst>
              <a:ext uri="{FF2B5EF4-FFF2-40B4-BE49-F238E27FC236}">
                <a16:creationId xmlns:a16="http://schemas.microsoft.com/office/drawing/2014/main" id="{3AC3BD6A-6E22-8BCB-E5B6-80AB77695AF2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685800" y="6645224"/>
            <a:ext cx="2269135" cy="128240"/>
          </a:xfrm>
        </p:spPr>
        <p:txBody>
          <a:bodyPr/>
          <a:lstStyle/>
          <a:p>
            <a:pPr marL="12700">
              <a:lnSpc>
                <a:spcPts val="955"/>
              </a:lnSpc>
            </a:pPr>
            <a:r>
              <a:rPr lang="en-US" dirty="0"/>
              <a:t>Jan 28 2026| ASTRAI | You-Lead Session| 7</a:t>
            </a:r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A78E2B89-8AC0-4B05-BBDE-1658B4B638DF}"/>
              </a:ext>
            </a:extLst>
          </p:cNvPr>
          <p:cNvSpPr txBox="1"/>
          <p:nvPr/>
        </p:nvSpPr>
        <p:spPr>
          <a:xfrm>
            <a:off x="533400" y="990600"/>
            <a:ext cx="76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0" lang="de-DE" sz="3200" b="1" i="0" u="none" strike="noStrike" kern="0" cap="none" spc="-25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/>
                <a:cs typeface="Calibri"/>
              </a:rPr>
              <a:t>#2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0671411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83764B-F0E7-142C-C4F8-EECF262C9B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>
            <a:extLst>
              <a:ext uri="{FF2B5EF4-FFF2-40B4-BE49-F238E27FC236}">
                <a16:creationId xmlns:a16="http://schemas.microsoft.com/office/drawing/2014/main" id="{0059018A-B470-15D6-889D-0476B5DC766F}"/>
              </a:ext>
            </a:extLst>
          </p:cNvPr>
          <p:cNvSpPr txBox="1"/>
          <p:nvPr/>
        </p:nvSpPr>
        <p:spPr>
          <a:xfrm>
            <a:off x="616712" y="1598498"/>
            <a:ext cx="10802620" cy="36138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lang="en-US" sz="2000" b="1" dirty="0"/>
              <a:t>Simple Definition</a:t>
            </a:r>
          </a:p>
          <a:p>
            <a:endParaRPr lang="en-US" b="1" dirty="0"/>
          </a:p>
          <a:p>
            <a:r>
              <a:rPr lang="en-US" b="1" dirty="0"/>
              <a:t>Data validation = Checking whether data follows logical and physical rules before analysis</a:t>
            </a:r>
            <a:endParaRPr lang="en-US" dirty="0"/>
          </a:p>
          <a:p>
            <a:endParaRPr lang="en-US" dirty="0"/>
          </a:p>
          <a:p>
            <a:r>
              <a:rPr lang="en-US" dirty="0"/>
              <a:t>Examples: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/>
              <a:t>Speed cannot be negative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/>
              <a:t>Vehicle count cannot be negative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/>
              <a:t>Dates should not be in the future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r>
              <a:rPr lang="en-US" dirty="0"/>
              <a:t>Raw Data → Validation → Reliable Analysis</a:t>
            </a:r>
          </a:p>
        </p:txBody>
      </p:sp>
      <p:sp>
        <p:nvSpPr>
          <p:cNvPr id="7" name="Foliennummernplatzhalter 7">
            <a:extLst>
              <a:ext uri="{FF2B5EF4-FFF2-40B4-BE49-F238E27FC236}">
                <a16:creationId xmlns:a16="http://schemas.microsoft.com/office/drawing/2014/main" id="{E39AC572-924A-E010-FBD4-85723E1C0039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685800" y="6645224"/>
            <a:ext cx="2269135" cy="128240"/>
          </a:xfrm>
        </p:spPr>
        <p:txBody>
          <a:bodyPr/>
          <a:lstStyle/>
          <a:p>
            <a:pPr marL="12700">
              <a:lnSpc>
                <a:spcPts val="955"/>
              </a:lnSpc>
            </a:pPr>
            <a:r>
              <a:rPr lang="en-US" dirty="0"/>
              <a:t>Jan 28 2026| ASTRAI | You-Lead Session| 8</a:t>
            </a:r>
          </a:p>
        </p:txBody>
      </p:sp>
    </p:spTree>
    <p:extLst>
      <p:ext uri="{BB962C8B-B14F-4D97-AF65-F5344CB8AC3E}">
        <p14:creationId xmlns:p14="http://schemas.microsoft.com/office/powerpoint/2010/main" val="305830963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0B0ACF-A85D-E21F-A0A9-F6C4E79296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6969681D-063E-DD86-2342-A6CB8F68A464}"/>
              </a:ext>
            </a:extLst>
          </p:cNvPr>
          <p:cNvSpPr txBox="1"/>
          <p:nvPr/>
        </p:nvSpPr>
        <p:spPr>
          <a:xfrm>
            <a:off x="367690" y="2009394"/>
            <a:ext cx="6807834" cy="33368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lang="en-US" b="1" dirty="0"/>
              <a:t>Why Should We Care?</a:t>
            </a:r>
          </a:p>
          <a:p>
            <a:endParaRPr lang="en-US" b="1" dirty="0"/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/>
              <a:t>Prevent wrong conclusions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/>
              <a:t>Improve decision-making quality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/>
              <a:t>Increase trust in reports and dashboards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/>
              <a:t>Essential for AI and automation systems</a:t>
            </a:r>
          </a:p>
          <a:p>
            <a:endParaRPr lang="en-US" dirty="0"/>
          </a:p>
          <a:p>
            <a:r>
              <a:rPr lang="en-US" dirty="0"/>
              <a:t>Good data quality = Good results</a:t>
            </a:r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E788552D-6AFA-5A23-E248-FD28715B2BE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67690" y="1207737"/>
            <a:ext cx="6612229" cy="608115"/>
          </a:xfrm>
          <a:prstGeom prst="rect">
            <a:avLst/>
          </a:prstGeom>
        </p:spPr>
        <p:txBody>
          <a:bodyPr vert="horz" wrap="square" lIns="0" tIns="11455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de-DE" sz="3200" dirty="0"/>
              <a:t>Why Validation </a:t>
            </a:r>
            <a:r>
              <a:rPr lang="de-DE" sz="3200" dirty="0" err="1"/>
              <a:t>is</a:t>
            </a:r>
            <a:r>
              <a:rPr lang="de-DE" sz="3200" dirty="0"/>
              <a:t> Important</a:t>
            </a:r>
            <a:endParaRPr sz="3200" dirty="0"/>
          </a:p>
        </p:txBody>
      </p:sp>
      <p:sp>
        <p:nvSpPr>
          <p:cNvPr id="7" name="Foliennummernplatzhalter 7">
            <a:extLst>
              <a:ext uri="{FF2B5EF4-FFF2-40B4-BE49-F238E27FC236}">
                <a16:creationId xmlns:a16="http://schemas.microsoft.com/office/drawing/2014/main" id="{91B83041-F220-2409-371B-4238901764E1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685800" y="6645224"/>
            <a:ext cx="2269135" cy="128240"/>
          </a:xfrm>
        </p:spPr>
        <p:txBody>
          <a:bodyPr/>
          <a:lstStyle/>
          <a:p>
            <a:pPr marL="12700">
              <a:lnSpc>
                <a:spcPts val="955"/>
              </a:lnSpc>
            </a:pPr>
            <a:r>
              <a:rPr lang="en-US" dirty="0"/>
              <a:t>Jan 28 2026| ASTRAI | You-Lead Session| 9</a:t>
            </a:r>
          </a:p>
        </p:txBody>
      </p:sp>
    </p:spTree>
    <p:extLst>
      <p:ext uri="{BB962C8B-B14F-4D97-AF65-F5344CB8AC3E}">
        <p14:creationId xmlns:p14="http://schemas.microsoft.com/office/powerpoint/2010/main" val="367270616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A0EC82-F00C-D34A-E54C-5C963F58AC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23DBE260-1E8A-A283-71BB-5F30B228EEA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789885" y="3063387"/>
            <a:ext cx="6612229" cy="1346779"/>
          </a:xfrm>
          <a:prstGeom prst="rect">
            <a:avLst/>
          </a:prstGeom>
        </p:spPr>
        <p:txBody>
          <a:bodyPr vert="horz" wrap="square" lIns="0" tIns="114554" rIns="0" bIns="0" rtlCol="0">
            <a:spAutoFit/>
          </a:bodyPr>
          <a:lstStyle/>
          <a:p>
            <a:pPr marL="12700" algn="l">
              <a:lnSpc>
                <a:spcPct val="100000"/>
              </a:lnSpc>
              <a:spcBef>
                <a:spcPts val="105"/>
              </a:spcBef>
              <a:tabLst>
                <a:tab pos="882650" algn="l"/>
              </a:tabLst>
            </a:pPr>
            <a:r>
              <a:rPr lang="en-US" sz="4000" dirty="0">
                <a:solidFill>
                  <a:srgbClr val="C00000"/>
                </a:solidFill>
              </a:rPr>
              <a:t>Real Example: Traffic Sensor Data</a:t>
            </a:r>
            <a:endParaRPr lang="en-US" sz="3200" dirty="0">
              <a:solidFill>
                <a:srgbClr val="C00000"/>
              </a:solidFill>
            </a:endParaRPr>
          </a:p>
        </p:txBody>
      </p:sp>
      <p:sp>
        <p:nvSpPr>
          <p:cNvPr id="7" name="Foliennummernplatzhalter 7">
            <a:extLst>
              <a:ext uri="{FF2B5EF4-FFF2-40B4-BE49-F238E27FC236}">
                <a16:creationId xmlns:a16="http://schemas.microsoft.com/office/drawing/2014/main" id="{19D67F63-EB3E-FCDF-282F-4D56608AD448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685800" y="6645224"/>
            <a:ext cx="2269135" cy="128240"/>
          </a:xfrm>
        </p:spPr>
        <p:txBody>
          <a:bodyPr/>
          <a:lstStyle/>
          <a:p>
            <a:pPr marL="12700">
              <a:lnSpc>
                <a:spcPts val="955"/>
              </a:lnSpc>
            </a:pPr>
            <a:r>
              <a:rPr lang="en-US" dirty="0"/>
              <a:t>Jan 28 2026| ASTRAI | You-Lead Session| 10</a:t>
            </a:r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A99A0C8E-6BEE-3734-73D0-587928CC3D08}"/>
              </a:ext>
            </a:extLst>
          </p:cNvPr>
          <p:cNvSpPr txBox="1"/>
          <p:nvPr/>
        </p:nvSpPr>
        <p:spPr>
          <a:xfrm>
            <a:off x="533400" y="990600"/>
            <a:ext cx="76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0" lang="de-DE" sz="3200" b="1" i="0" u="none" strike="noStrike" kern="0" cap="none" spc="-25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/>
                <a:cs typeface="Calibri"/>
              </a:rPr>
              <a:t>#3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3215602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66166" y="1584960"/>
            <a:ext cx="6851015" cy="124200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50000"/>
              </a:lnSpc>
              <a:spcBef>
                <a:spcPts val="100"/>
              </a:spcBef>
            </a:pPr>
            <a:r>
              <a:rPr lang="en-US" sz="1800" dirty="0">
                <a:latin typeface="Calibri"/>
                <a:cs typeface="Calibri"/>
              </a:rPr>
              <a:t>Example Dataset (Raw Data)</a:t>
            </a:r>
          </a:p>
          <a:p>
            <a:pPr marL="12700" marR="5080" algn="just">
              <a:lnSpc>
                <a:spcPct val="150000"/>
              </a:lnSpc>
              <a:spcBef>
                <a:spcPts val="100"/>
              </a:spcBef>
            </a:pPr>
            <a:endParaRPr lang="en-US" dirty="0">
              <a:latin typeface="Calibri"/>
              <a:cs typeface="Calibri"/>
            </a:endParaRPr>
          </a:p>
          <a:p>
            <a:pPr marL="12700" marR="5080" algn="just">
              <a:lnSpc>
                <a:spcPct val="150000"/>
              </a:lnSpc>
              <a:spcBef>
                <a:spcPts val="100"/>
              </a:spcBef>
            </a:pPr>
            <a:endParaRPr sz="1800" dirty="0">
              <a:latin typeface="Calibri"/>
              <a:cs typeface="Calibri"/>
            </a:endParaRPr>
          </a:p>
        </p:txBody>
      </p:sp>
      <p:sp>
        <p:nvSpPr>
          <p:cNvPr id="7" name="Foliennummernplatzhalter 7">
            <a:extLst>
              <a:ext uri="{FF2B5EF4-FFF2-40B4-BE49-F238E27FC236}">
                <a16:creationId xmlns:a16="http://schemas.microsoft.com/office/drawing/2014/main" id="{9B1B3385-37EB-DC53-5A35-D989E86F2119}"/>
              </a:ext>
            </a:extLst>
          </p:cNvPr>
          <p:cNvSpPr txBox="1">
            <a:spLocks/>
          </p:cNvSpPr>
          <p:nvPr/>
        </p:nvSpPr>
        <p:spPr>
          <a:xfrm>
            <a:off x="685800" y="6645224"/>
            <a:ext cx="2269135" cy="1282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defPPr>
              <a:defRPr kern="0"/>
            </a:defPPr>
            <a:lvl1pPr>
              <a:defRPr sz="9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955"/>
              </a:lnSpc>
            </a:pPr>
            <a:r>
              <a:rPr lang="en-US" dirty="0"/>
              <a:t>Jan 28 2026| ASTRAI | You-Lead Session| 11</a:t>
            </a:r>
          </a:p>
        </p:txBody>
      </p:sp>
      <p:graphicFrame>
        <p:nvGraphicFramePr>
          <p:cNvPr id="8" name="Tabelle 7">
            <a:extLst>
              <a:ext uri="{FF2B5EF4-FFF2-40B4-BE49-F238E27FC236}">
                <a16:creationId xmlns:a16="http://schemas.microsoft.com/office/drawing/2014/main" id="{74D69019-3D60-A7BA-4EA0-878F6DC9F4E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20471727"/>
              </p:ext>
            </p:extLst>
          </p:nvPr>
        </p:nvGraphicFramePr>
        <p:xfrm>
          <a:off x="338092" y="2205963"/>
          <a:ext cx="6214566" cy="2515987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071522">
                  <a:extLst>
                    <a:ext uri="{9D8B030D-6E8A-4147-A177-3AD203B41FA5}">
                      <a16:colId xmlns:a16="http://schemas.microsoft.com/office/drawing/2014/main" val="1570168606"/>
                    </a:ext>
                  </a:extLst>
                </a:gridCol>
                <a:gridCol w="2071522">
                  <a:extLst>
                    <a:ext uri="{9D8B030D-6E8A-4147-A177-3AD203B41FA5}">
                      <a16:colId xmlns:a16="http://schemas.microsoft.com/office/drawing/2014/main" val="743442378"/>
                    </a:ext>
                  </a:extLst>
                </a:gridCol>
                <a:gridCol w="2071522">
                  <a:extLst>
                    <a:ext uri="{9D8B030D-6E8A-4147-A177-3AD203B41FA5}">
                      <a16:colId xmlns:a16="http://schemas.microsoft.com/office/drawing/2014/main" val="2025900176"/>
                    </a:ext>
                  </a:extLst>
                </a:gridCol>
              </a:tblGrid>
              <a:tr h="37977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/>
                        <a:t>i</a:t>
                      </a:r>
                      <a:r>
                        <a:rPr lang="de-DE" i="1"/>
                        <a:t>d</a:t>
                      </a:r>
                      <a:endParaRPr lang="de-DE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i="1" dirty="0"/>
                        <a:t>speed (km/h)</a:t>
                      </a:r>
                      <a:endParaRPr lang="de-DE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i="1" dirty="0" err="1"/>
                        <a:t>vehicle_count</a:t>
                      </a:r>
                      <a:endParaRPr lang="de-DE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71015575"/>
                  </a:ext>
                </a:extLst>
              </a:tr>
              <a:tr h="37977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i="1"/>
                        <a:t>1</a:t>
                      </a:r>
                      <a:endParaRPr lang="de-DE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i="1"/>
                        <a:t>50</a:t>
                      </a:r>
                      <a:endParaRPr lang="de-DE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i="1"/>
                        <a:t>120</a:t>
                      </a:r>
                      <a:endParaRPr lang="de-DE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43799063"/>
                  </a:ext>
                </a:extLst>
              </a:tr>
              <a:tr h="37977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i="1" dirty="0"/>
                        <a:t>2</a:t>
                      </a:r>
                      <a:endParaRPr lang="de-DE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i="1"/>
                        <a:t>-15</a:t>
                      </a:r>
                      <a:endParaRPr lang="de-DE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i="1"/>
                        <a:t>90</a:t>
                      </a:r>
                      <a:endParaRPr lang="de-DE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77615864"/>
                  </a:ext>
                </a:extLst>
              </a:tr>
              <a:tr h="61711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i="1" dirty="0"/>
                        <a:t>3</a:t>
                      </a:r>
                      <a:endParaRPr lang="de-DE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i="1" dirty="0"/>
                        <a:t>180</a:t>
                      </a:r>
                      <a:endParaRPr lang="de-DE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i="1"/>
                        <a:t>60</a:t>
                      </a:r>
                      <a:endParaRPr lang="de-DE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64085411"/>
                  </a:ext>
                </a:extLst>
              </a:tr>
              <a:tr h="37977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i="1"/>
                        <a:t>4</a:t>
                      </a:r>
                      <a:endParaRPr lang="de-DE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i="1" dirty="0" err="1"/>
                        <a:t>NaN</a:t>
                      </a:r>
                      <a:endParaRPr lang="de-DE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i="1"/>
                        <a:t>110</a:t>
                      </a:r>
                      <a:endParaRPr lang="de-DE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36537630"/>
                  </a:ext>
                </a:extLst>
              </a:tr>
              <a:tr h="37977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i="1"/>
                        <a:t>5</a:t>
                      </a:r>
                      <a:endParaRPr lang="de-DE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i="1" dirty="0"/>
                        <a:t>70</a:t>
                      </a:r>
                      <a:endParaRPr lang="de-DE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dirty="0"/>
                        <a:t>-5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5777435"/>
                  </a:ext>
                </a:extLst>
              </a:tr>
            </a:tbl>
          </a:graphicData>
        </a:graphic>
      </p:graphicFrame>
      <p:sp>
        <p:nvSpPr>
          <p:cNvPr id="9" name="Textfeld 8">
            <a:extLst>
              <a:ext uri="{FF2B5EF4-FFF2-40B4-BE49-F238E27FC236}">
                <a16:creationId xmlns:a16="http://schemas.microsoft.com/office/drawing/2014/main" id="{5B778B44-9F23-1DB0-5DFC-88F75D7D8C5A}"/>
              </a:ext>
            </a:extLst>
          </p:cNvPr>
          <p:cNvSpPr txBox="1"/>
          <p:nvPr/>
        </p:nvSpPr>
        <p:spPr>
          <a:xfrm>
            <a:off x="7217181" y="2438400"/>
            <a:ext cx="4441419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Problems: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Negative speed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Unrealistic speed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Missing value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Negative vehicle count</a:t>
            </a:r>
          </a:p>
          <a:p>
            <a:endParaRPr lang="de-DE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4FB171-1D75-81B6-9DE4-DBEF6A41F3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79248C0D-5AA1-5D2A-4D32-772F5CC930D8}"/>
              </a:ext>
            </a:extLst>
          </p:cNvPr>
          <p:cNvSpPr txBox="1"/>
          <p:nvPr/>
        </p:nvSpPr>
        <p:spPr>
          <a:xfrm>
            <a:off x="367690" y="2009394"/>
            <a:ext cx="6807834" cy="305981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lang="en-US" b="1" dirty="0"/>
              <a:t>Example Rules for Traffic Data</a:t>
            </a:r>
          </a:p>
          <a:p>
            <a:endParaRPr lang="en-US" b="1" dirty="0"/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/>
              <a:t>Speed must be between 0 and 130 km/h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/>
              <a:t>Vehicle count must be ≥ 0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/>
              <a:t>Speed should not be missing</a:t>
            </a:r>
          </a:p>
          <a:p>
            <a:endParaRPr lang="en-US" dirty="0"/>
          </a:p>
          <a:p>
            <a:r>
              <a:rPr lang="en-US" dirty="0"/>
              <a:t>These rules protect data quality.</a:t>
            </a:r>
          </a:p>
          <a:p>
            <a:endParaRPr lang="en-US" dirty="0"/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F6BFCF06-93F2-BA9B-C3F0-0E5813D1EB5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66166" y="528574"/>
            <a:ext cx="6612229" cy="608115"/>
          </a:xfrm>
          <a:prstGeom prst="rect">
            <a:avLst/>
          </a:prstGeom>
        </p:spPr>
        <p:txBody>
          <a:bodyPr vert="horz" wrap="square" lIns="0" tIns="114554" rIns="0" bIns="0" rtlCol="0">
            <a:spAutoFit/>
          </a:bodyPr>
          <a:lstStyle/>
          <a:p>
            <a:r>
              <a:rPr lang="de-DE" sz="3200" dirty="0"/>
              <a:t>Validation Rules</a:t>
            </a:r>
          </a:p>
        </p:txBody>
      </p:sp>
      <p:sp>
        <p:nvSpPr>
          <p:cNvPr id="7" name="Foliennummernplatzhalter 7">
            <a:extLst>
              <a:ext uri="{FF2B5EF4-FFF2-40B4-BE49-F238E27FC236}">
                <a16:creationId xmlns:a16="http://schemas.microsoft.com/office/drawing/2014/main" id="{3809A32C-B966-97D7-F6DB-6C275641CB1B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685800" y="6645224"/>
            <a:ext cx="2269135" cy="128240"/>
          </a:xfrm>
        </p:spPr>
        <p:txBody>
          <a:bodyPr/>
          <a:lstStyle/>
          <a:p>
            <a:pPr marL="12700">
              <a:lnSpc>
                <a:spcPts val="955"/>
              </a:lnSpc>
            </a:pPr>
            <a:r>
              <a:rPr lang="en-US" dirty="0"/>
              <a:t>Jan 28 2026| ASTRAI | You-Lead Session| 12</a:t>
            </a:r>
          </a:p>
        </p:txBody>
      </p:sp>
    </p:spTree>
    <p:extLst>
      <p:ext uri="{BB962C8B-B14F-4D97-AF65-F5344CB8AC3E}">
        <p14:creationId xmlns:p14="http://schemas.microsoft.com/office/powerpoint/2010/main" val="423069913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E9AD25-C25D-5B24-BD8E-6A79961619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E9EA2D25-3216-0BAF-A315-B1CA7C8FC12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789885" y="3063387"/>
            <a:ext cx="6612229" cy="731226"/>
          </a:xfrm>
          <a:prstGeom prst="rect">
            <a:avLst/>
          </a:prstGeom>
        </p:spPr>
        <p:txBody>
          <a:bodyPr vert="horz" wrap="square" lIns="0" tIns="114554" rIns="0" bIns="0" rtlCol="0">
            <a:spAutoFit/>
          </a:bodyPr>
          <a:lstStyle/>
          <a:p>
            <a:pPr marL="12700" algn="l">
              <a:lnSpc>
                <a:spcPct val="100000"/>
              </a:lnSpc>
              <a:spcBef>
                <a:spcPts val="105"/>
              </a:spcBef>
              <a:tabLst>
                <a:tab pos="882650" algn="l"/>
              </a:tabLst>
            </a:pPr>
            <a:r>
              <a:rPr lang="en-US" sz="4000" dirty="0">
                <a:solidFill>
                  <a:srgbClr val="C00000"/>
                </a:solidFill>
              </a:rPr>
              <a:t>Live demo with Pandas</a:t>
            </a:r>
            <a:endParaRPr lang="en-US" sz="3200" dirty="0">
              <a:solidFill>
                <a:srgbClr val="C00000"/>
              </a:solidFill>
            </a:endParaRPr>
          </a:p>
        </p:txBody>
      </p:sp>
      <p:sp>
        <p:nvSpPr>
          <p:cNvPr id="7" name="Foliennummernplatzhalter 7">
            <a:extLst>
              <a:ext uri="{FF2B5EF4-FFF2-40B4-BE49-F238E27FC236}">
                <a16:creationId xmlns:a16="http://schemas.microsoft.com/office/drawing/2014/main" id="{66D3507A-2244-9612-AF9B-CF941A55F1BB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685800" y="6645224"/>
            <a:ext cx="2269135" cy="128240"/>
          </a:xfrm>
        </p:spPr>
        <p:txBody>
          <a:bodyPr/>
          <a:lstStyle/>
          <a:p>
            <a:pPr marL="12700">
              <a:lnSpc>
                <a:spcPts val="955"/>
              </a:lnSpc>
            </a:pPr>
            <a:r>
              <a:rPr lang="en-US" dirty="0"/>
              <a:t>Jan 28 2026| ASTRAI | You-Lead Session| 13</a:t>
            </a:r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B26D7433-9516-641B-8B9D-A84F6CE85EEE}"/>
              </a:ext>
            </a:extLst>
          </p:cNvPr>
          <p:cNvSpPr txBox="1"/>
          <p:nvPr/>
        </p:nvSpPr>
        <p:spPr>
          <a:xfrm>
            <a:off x="533400" y="990600"/>
            <a:ext cx="76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0" lang="de-DE" sz="3200" b="1" i="0" u="none" strike="noStrike" kern="0" cap="none" spc="-25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/>
                <a:cs typeface="Calibri"/>
              </a:rPr>
              <a:t>#4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4131652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99830A-34C7-F9DC-B942-538FC1832C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55789989-FD6B-8B86-05F4-B39D3C6150AA}"/>
              </a:ext>
            </a:extLst>
          </p:cNvPr>
          <p:cNvSpPr txBox="1"/>
          <p:nvPr/>
        </p:nvSpPr>
        <p:spPr>
          <a:xfrm>
            <a:off x="367690" y="2009394"/>
            <a:ext cx="6807834" cy="278281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lang="en-US" b="1" dirty="0"/>
              <a:t>Step 1: Load Example Data</a:t>
            </a:r>
          </a:p>
          <a:p>
            <a:endParaRPr lang="en-US" b="1" dirty="0"/>
          </a:p>
          <a:p>
            <a:r>
              <a:rPr lang="en-US" b="1" dirty="0"/>
              <a:t>import pandas as pd </a:t>
            </a:r>
          </a:p>
          <a:p>
            <a:r>
              <a:rPr lang="en-US" b="1" dirty="0"/>
              <a:t>data = {   </a:t>
            </a:r>
          </a:p>
          <a:p>
            <a:r>
              <a:rPr lang="en-US" b="1" dirty="0"/>
              <a:t> "speed": [50, -15, 180, None, 70],   </a:t>
            </a:r>
          </a:p>
          <a:p>
            <a:r>
              <a:rPr lang="en-US" b="1" dirty="0"/>
              <a:t> "</a:t>
            </a:r>
            <a:r>
              <a:rPr lang="en-US" b="1" dirty="0" err="1"/>
              <a:t>vehicle_count</a:t>
            </a:r>
            <a:r>
              <a:rPr lang="en-US" b="1" dirty="0"/>
              <a:t>": [120, 90, 60, 110, -5]</a:t>
            </a:r>
          </a:p>
          <a:p>
            <a:r>
              <a:rPr lang="en-US" b="1" dirty="0"/>
              <a:t>}</a:t>
            </a:r>
          </a:p>
          <a:p>
            <a:r>
              <a:rPr lang="en-US" b="1" dirty="0" err="1"/>
              <a:t>df</a:t>
            </a:r>
            <a:r>
              <a:rPr lang="en-US" b="1" dirty="0"/>
              <a:t> = </a:t>
            </a:r>
            <a:r>
              <a:rPr lang="en-US" b="1" dirty="0" err="1"/>
              <a:t>pd.DataFrame</a:t>
            </a:r>
            <a:r>
              <a:rPr lang="en-US" b="1" dirty="0"/>
              <a:t>(data)</a:t>
            </a:r>
          </a:p>
          <a:p>
            <a:endParaRPr lang="en-US" b="1" dirty="0"/>
          </a:p>
          <a:p>
            <a:r>
              <a:rPr lang="en-US" b="1" dirty="0" err="1"/>
              <a:t>df</a:t>
            </a:r>
            <a:endParaRPr lang="en-US" dirty="0"/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C2F7077B-7008-13BA-42F8-10BB8BC263F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66166" y="528574"/>
            <a:ext cx="6612229" cy="1100558"/>
          </a:xfrm>
          <a:prstGeom prst="rect">
            <a:avLst/>
          </a:prstGeom>
        </p:spPr>
        <p:txBody>
          <a:bodyPr vert="horz" wrap="square" lIns="0" tIns="114554" rIns="0" bIns="0" rtlCol="0">
            <a:spAutoFit/>
          </a:bodyPr>
          <a:lstStyle/>
          <a:p>
            <a:r>
              <a:rPr lang="de-DE" sz="3200" dirty="0"/>
              <a:t>Live Demo : Load Data</a:t>
            </a:r>
            <a:br>
              <a:rPr lang="de-DE" sz="3200" dirty="0"/>
            </a:br>
            <a:endParaRPr lang="de-DE" sz="3200" dirty="0"/>
          </a:p>
        </p:txBody>
      </p:sp>
      <p:sp>
        <p:nvSpPr>
          <p:cNvPr id="7" name="Foliennummernplatzhalter 7">
            <a:extLst>
              <a:ext uri="{FF2B5EF4-FFF2-40B4-BE49-F238E27FC236}">
                <a16:creationId xmlns:a16="http://schemas.microsoft.com/office/drawing/2014/main" id="{4B0D220D-3B02-82CE-7987-CE6D64B46AE2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685800" y="6645224"/>
            <a:ext cx="2269135" cy="128240"/>
          </a:xfrm>
        </p:spPr>
        <p:txBody>
          <a:bodyPr/>
          <a:lstStyle/>
          <a:p>
            <a:pPr marL="12700">
              <a:lnSpc>
                <a:spcPts val="955"/>
              </a:lnSpc>
            </a:pPr>
            <a:r>
              <a:rPr lang="en-US" dirty="0"/>
              <a:t>Jan 28 2026| ASTRAI | You-Lead Session| 14</a:t>
            </a:r>
          </a:p>
        </p:txBody>
      </p:sp>
    </p:spTree>
    <p:extLst>
      <p:ext uri="{BB962C8B-B14F-4D97-AF65-F5344CB8AC3E}">
        <p14:creationId xmlns:p14="http://schemas.microsoft.com/office/powerpoint/2010/main" val="231127981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6F7B1C-F4D2-C888-5E27-686B1A4115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32AE67B1-B90D-A8D1-6B86-75A4CB724D09}"/>
              </a:ext>
            </a:extLst>
          </p:cNvPr>
          <p:cNvSpPr txBox="1"/>
          <p:nvPr/>
        </p:nvSpPr>
        <p:spPr>
          <a:xfrm>
            <a:off x="367690" y="2009394"/>
            <a:ext cx="6807834" cy="33368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lang="en-US" b="1" dirty="0"/>
              <a:t>Step 2: Detect Invalid Values</a:t>
            </a:r>
          </a:p>
          <a:p>
            <a:endParaRPr lang="en-US" b="1" dirty="0"/>
          </a:p>
          <a:p>
            <a:r>
              <a:rPr lang="de-DE" dirty="0"/>
              <a:t>Negative </a:t>
            </a:r>
            <a:r>
              <a:rPr lang="de-DE" dirty="0" err="1"/>
              <a:t>speeds</a:t>
            </a:r>
            <a:r>
              <a:rPr lang="de-DE" dirty="0"/>
              <a:t>:</a:t>
            </a:r>
          </a:p>
          <a:p>
            <a:r>
              <a:rPr lang="de-DE" b="1" dirty="0" err="1"/>
              <a:t>df</a:t>
            </a:r>
            <a:r>
              <a:rPr lang="de-DE" b="1" dirty="0"/>
              <a:t>[</a:t>
            </a:r>
            <a:r>
              <a:rPr lang="de-DE" b="1" dirty="0" err="1"/>
              <a:t>df</a:t>
            </a:r>
            <a:r>
              <a:rPr lang="de-DE" b="1" dirty="0"/>
              <a:t>["speed"] &lt; 0] </a:t>
            </a:r>
          </a:p>
          <a:p>
            <a:endParaRPr lang="de-DE" dirty="0"/>
          </a:p>
          <a:p>
            <a:r>
              <a:rPr lang="de-DE" dirty="0" err="1"/>
              <a:t>Unrealistic</a:t>
            </a:r>
            <a:r>
              <a:rPr lang="de-DE" dirty="0"/>
              <a:t> </a:t>
            </a:r>
            <a:r>
              <a:rPr lang="de-DE" dirty="0" err="1"/>
              <a:t>speeds</a:t>
            </a:r>
            <a:r>
              <a:rPr lang="de-DE" dirty="0"/>
              <a:t>:</a:t>
            </a:r>
          </a:p>
          <a:p>
            <a:r>
              <a:rPr lang="de-DE" b="1" dirty="0" err="1"/>
              <a:t>df</a:t>
            </a:r>
            <a:r>
              <a:rPr lang="de-DE" b="1" dirty="0"/>
              <a:t>[</a:t>
            </a:r>
            <a:r>
              <a:rPr lang="de-DE" b="1" dirty="0" err="1"/>
              <a:t>df</a:t>
            </a:r>
            <a:r>
              <a:rPr lang="de-DE" b="1" dirty="0"/>
              <a:t>["speed"] &gt; 130]</a:t>
            </a:r>
          </a:p>
          <a:p>
            <a:endParaRPr lang="en-US" dirty="0"/>
          </a:p>
          <a:p>
            <a:r>
              <a:rPr lang="de-DE" dirty="0" err="1"/>
              <a:t>Missing</a:t>
            </a:r>
            <a:r>
              <a:rPr lang="de-DE" dirty="0"/>
              <a:t> </a:t>
            </a:r>
            <a:r>
              <a:rPr lang="de-DE" dirty="0" err="1"/>
              <a:t>values</a:t>
            </a:r>
            <a:r>
              <a:rPr lang="de-DE" dirty="0"/>
              <a:t>:</a:t>
            </a:r>
          </a:p>
          <a:p>
            <a:r>
              <a:rPr lang="en-US" b="1" dirty="0" err="1"/>
              <a:t>df.isnull</a:t>
            </a:r>
            <a:r>
              <a:rPr lang="en-US" b="1" dirty="0"/>
              <a:t>().sum()</a:t>
            </a:r>
          </a:p>
          <a:p>
            <a:r>
              <a:rPr lang="en-US" dirty="0"/>
              <a:t>.</a:t>
            </a:r>
          </a:p>
          <a:p>
            <a:endParaRPr lang="en-US" dirty="0"/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D18F8CCF-3C82-7E52-F34F-2553B6794DF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66166" y="528574"/>
            <a:ext cx="6612229" cy="608115"/>
          </a:xfrm>
          <a:prstGeom prst="rect">
            <a:avLst/>
          </a:prstGeom>
        </p:spPr>
        <p:txBody>
          <a:bodyPr vert="horz" wrap="square" lIns="0" tIns="114554" rIns="0" bIns="0" rtlCol="0">
            <a:spAutoFit/>
          </a:bodyPr>
          <a:lstStyle/>
          <a:p>
            <a:r>
              <a:rPr lang="de-DE" sz="3200" dirty="0"/>
              <a:t>Live Demo: </a:t>
            </a:r>
            <a:r>
              <a:rPr lang="de-DE" sz="3200" dirty="0" err="1"/>
              <a:t>Detect</a:t>
            </a:r>
            <a:r>
              <a:rPr lang="de-DE" sz="3200" dirty="0"/>
              <a:t> Errors</a:t>
            </a:r>
          </a:p>
        </p:txBody>
      </p:sp>
      <p:sp>
        <p:nvSpPr>
          <p:cNvPr id="7" name="Foliennummernplatzhalter 7">
            <a:extLst>
              <a:ext uri="{FF2B5EF4-FFF2-40B4-BE49-F238E27FC236}">
                <a16:creationId xmlns:a16="http://schemas.microsoft.com/office/drawing/2014/main" id="{6606104B-30FF-A6AA-0104-EF675890DCDA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685800" y="6645224"/>
            <a:ext cx="2269135" cy="128240"/>
          </a:xfrm>
        </p:spPr>
        <p:txBody>
          <a:bodyPr/>
          <a:lstStyle/>
          <a:p>
            <a:pPr marL="12700">
              <a:lnSpc>
                <a:spcPts val="955"/>
              </a:lnSpc>
            </a:pPr>
            <a:r>
              <a:rPr lang="en-US" dirty="0"/>
              <a:t>Jan 28 2026| ASTRAI | You-Lead Session| 15</a:t>
            </a:r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1E8E117F-09C8-DA15-3406-3E557A6ED1F0}"/>
              </a:ext>
            </a:extLst>
          </p:cNvPr>
          <p:cNvSpPr txBox="1"/>
          <p:nvPr/>
        </p:nvSpPr>
        <p:spPr>
          <a:xfrm>
            <a:off x="8001000" y="4114800"/>
            <a:ext cx="304800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.</a:t>
            </a:r>
            <a:r>
              <a:rPr lang="en-US" b="1" dirty="0" err="1"/>
              <a:t>isnull</a:t>
            </a:r>
            <a:r>
              <a:rPr lang="en-US" b="1" dirty="0"/>
              <a:t>() </a:t>
            </a:r>
            <a:r>
              <a:rPr lang="en-US" dirty="0"/>
              <a:t>: This checks where data is missing.</a:t>
            </a:r>
          </a:p>
          <a:p>
            <a:r>
              <a:rPr lang="en-US" b="1" dirty="0"/>
              <a:t>.sum() : </a:t>
            </a:r>
            <a:r>
              <a:rPr lang="en-US" dirty="0"/>
              <a:t>Now Pandas </a:t>
            </a:r>
            <a:r>
              <a:rPr lang="en-US" b="1" dirty="0"/>
              <a:t>adds up the True values</a:t>
            </a:r>
            <a:r>
              <a:rPr lang="en-US" dirty="0"/>
              <a:t>.</a:t>
            </a:r>
          </a:p>
          <a:p>
            <a:r>
              <a:rPr lang="da-DK" dirty="0"/>
              <a:t>True = 1</a:t>
            </a:r>
            <a:br>
              <a:rPr lang="da-DK" dirty="0"/>
            </a:br>
            <a:r>
              <a:rPr lang="da-DK" dirty="0"/>
              <a:t>False = 0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17604932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DF0F7A-7BB9-C292-E265-B362952572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27880C46-66CA-E215-E673-66FD51721ED9}"/>
              </a:ext>
            </a:extLst>
          </p:cNvPr>
          <p:cNvSpPr txBox="1"/>
          <p:nvPr/>
        </p:nvSpPr>
        <p:spPr>
          <a:xfrm>
            <a:off x="367690" y="2009394"/>
            <a:ext cx="6807834" cy="36138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lang="en-US" b="1" dirty="0"/>
              <a:t>Step 3: Apply Validation Rules</a:t>
            </a:r>
          </a:p>
          <a:p>
            <a:endParaRPr lang="en-US" b="1" dirty="0"/>
          </a:p>
          <a:p>
            <a:r>
              <a:rPr lang="en-US" dirty="0"/>
              <a:t>Keep only realistic speed values:</a:t>
            </a:r>
          </a:p>
          <a:p>
            <a:endParaRPr lang="en-US" b="1" dirty="0"/>
          </a:p>
          <a:p>
            <a:r>
              <a:rPr lang="de-DE" b="1" dirty="0" err="1"/>
              <a:t>df_valid</a:t>
            </a:r>
            <a:r>
              <a:rPr lang="de-DE" b="1" dirty="0"/>
              <a:t> = </a:t>
            </a:r>
            <a:r>
              <a:rPr lang="de-DE" b="1" dirty="0" err="1"/>
              <a:t>df</a:t>
            </a:r>
            <a:r>
              <a:rPr lang="de-DE" b="1" dirty="0"/>
              <a:t>[(</a:t>
            </a:r>
            <a:r>
              <a:rPr lang="de-DE" b="1" dirty="0" err="1"/>
              <a:t>df</a:t>
            </a:r>
            <a:r>
              <a:rPr lang="de-DE" b="1" dirty="0"/>
              <a:t>["speed"] &gt;= 0) &amp; (</a:t>
            </a:r>
            <a:r>
              <a:rPr lang="de-DE" b="1" dirty="0" err="1"/>
              <a:t>df</a:t>
            </a:r>
            <a:r>
              <a:rPr lang="de-DE" b="1" dirty="0"/>
              <a:t>["speed"] &lt;= 130)]</a:t>
            </a:r>
          </a:p>
          <a:p>
            <a:r>
              <a:rPr lang="de-DE" b="1" dirty="0"/>
              <a:t>df_valid</a:t>
            </a:r>
          </a:p>
          <a:p>
            <a:endParaRPr lang="en-US" dirty="0"/>
          </a:p>
          <a:p>
            <a:r>
              <a:rPr lang="de-DE" dirty="0"/>
              <a:t>Fix negative vehicle </a:t>
            </a:r>
            <a:r>
              <a:rPr lang="de-DE" dirty="0" err="1"/>
              <a:t>count</a:t>
            </a:r>
            <a:r>
              <a:rPr lang="de-DE" dirty="0"/>
              <a:t>:</a:t>
            </a:r>
          </a:p>
          <a:p>
            <a:endParaRPr lang="de-DE" dirty="0"/>
          </a:p>
          <a:p>
            <a:r>
              <a:rPr lang="de-DE" b="1" dirty="0"/>
              <a:t>df_valid["</a:t>
            </a:r>
            <a:r>
              <a:rPr lang="de-DE" b="1" dirty="0" err="1"/>
              <a:t>vehicle_count</a:t>
            </a:r>
            <a:r>
              <a:rPr lang="de-DE" b="1" dirty="0"/>
              <a:t>"] = df_valid["</a:t>
            </a:r>
            <a:r>
              <a:rPr lang="de-DE" b="1" dirty="0" err="1"/>
              <a:t>vehicle_count</a:t>
            </a:r>
            <a:r>
              <a:rPr lang="de-DE" b="1" dirty="0"/>
              <a:t>"].</a:t>
            </a:r>
            <a:r>
              <a:rPr lang="de-DE" b="1" dirty="0" err="1"/>
              <a:t>clip</a:t>
            </a:r>
            <a:r>
              <a:rPr lang="de-DE" b="1" dirty="0"/>
              <a:t>(</a:t>
            </a:r>
            <a:r>
              <a:rPr lang="de-DE" b="1" dirty="0" err="1"/>
              <a:t>lower</a:t>
            </a:r>
            <a:r>
              <a:rPr lang="de-DE" b="1" dirty="0"/>
              <a:t>=0)</a:t>
            </a:r>
          </a:p>
          <a:p>
            <a:r>
              <a:rPr lang="de-DE" b="1" dirty="0"/>
              <a:t>df_valid</a:t>
            </a:r>
          </a:p>
          <a:p>
            <a:endParaRPr lang="de-DE" dirty="0"/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9B8702A1-DB7D-26E9-093F-2F5C82A1D0F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66166" y="528574"/>
            <a:ext cx="6612229" cy="608115"/>
          </a:xfrm>
          <a:prstGeom prst="rect">
            <a:avLst/>
          </a:prstGeom>
        </p:spPr>
        <p:txBody>
          <a:bodyPr vert="horz" wrap="square" lIns="0" tIns="114554" rIns="0" bIns="0" rtlCol="0">
            <a:spAutoFit/>
          </a:bodyPr>
          <a:lstStyle/>
          <a:p>
            <a:r>
              <a:rPr lang="en-US" sz="3200" dirty="0"/>
              <a:t>Live Demo: Apply Validation Rules</a:t>
            </a:r>
          </a:p>
        </p:txBody>
      </p:sp>
      <p:sp>
        <p:nvSpPr>
          <p:cNvPr id="7" name="Foliennummernplatzhalter 7">
            <a:extLst>
              <a:ext uri="{FF2B5EF4-FFF2-40B4-BE49-F238E27FC236}">
                <a16:creationId xmlns:a16="http://schemas.microsoft.com/office/drawing/2014/main" id="{43443E5C-0951-60B6-70F5-439E8B49B077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685800" y="6645224"/>
            <a:ext cx="2269135" cy="128240"/>
          </a:xfrm>
        </p:spPr>
        <p:txBody>
          <a:bodyPr/>
          <a:lstStyle/>
          <a:p>
            <a:pPr marL="12700">
              <a:lnSpc>
                <a:spcPts val="955"/>
              </a:lnSpc>
            </a:pPr>
            <a:r>
              <a:rPr lang="en-US" dirty="0"/>
              <a:t>Jan 28 2026| ASTRAI | You-Lead Session| 16</a:t>
            </a:r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6EFFB58F-87F3-25C8-BD25-DE8FC93371C2}"/>
              </a:ext>
            </a:extLst>
          </p:cNvPr>
          <p:cNvSpPr txBox="1"/>
          <p:nvPr/>
        </p:nvSpPr>
        <p:spPr>
          <a:xfrm>
            <a:off x="8153400" y="4267200"/>
            <a:ext cx="320040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b="1" dirty="0" err="1"/>
              <a:t>clip</a:t>
            </a:r>
            <a:r>
              <a:rPr lang="de-DE" b="1" dirty="0"/>
              <a:t>() </a:t>
            </a:r>
            <a:r>
              <a:rPr lang="de-DE" dirty="0" err="1"/>
              <a:t>means</a:t>
            </a:r>
            <a:r>
              <a:rPr lang="de-DE" dirty="0"/>
              <a:t>:</a:t>
            </a:r>
            <a:r>
              <a:rPr lang="en-US" dirty="0"/>
              <a:t> Limit values to a given range.</a:t>
            </a:r>
          </a:p>
          <a:p>
            <a:endParaRPr lang="en-US" dirty="0"/>
          </a:p>
          <a:p>
            <a:r>
              <a:rPr lang="de-DE" b="1" dirty="0" err="1"/>
              <a:t>lower</a:t>
            </a:r>
            <a:r>
              <a:rPr lang="de-DE" b="1" dirty="0"/>
              <a:t>=0 </a:t>
            </a:r>
            <a:r>
              <a:rPr lang="de-DE" dirty="0"/>
              <a:t>, </a:t>
            </a:r>
            <a:r>
              <a:rPr lang="en-US" dirty="0"/>
              <a:t>Any value </a:t>
            </a:r>
            <a:r>
              <a:rPr lang="en-US" b="1" dirty="0"/>
              <a:t>below 0</a:t>
            </a:r>
            <a:r>
              <a:rPr lang="en-US" dirty="0"/>
              <a:t> becomes </a:t>
            </a:r>
            <a:r>
              <a:rPr lang="en-US" b="1" dirty="0"/>
              <a:t>0</a:t>
            </a:r>
            <a:r>
              <a:rPr lang="en-US" dirty="0"/>
              <a:t>.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26629691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7377D9-6B17-FBD9-388C-A4FD8C92EC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5C596193-DC79-E105-B8AE-DF9273E557DA}"/>
              </a:ext>
            </a:extLst>
          </p:cNvPr>
          <p:cNvSpPr txBox="1"/>
          <p:nvPr/>
        </p:nvSpPr>
        <p:spPr>
          <a:xfrm>
            <a:off x="366166" y="1760594"/>
            <a:ext cx="6096000" cy="33368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lvl="2" algn="ctr"/>
            <a:r>
              <a:rPr lang="en-US" b="1" dirty="0"/>
              <a:t>                                      Raw Data vs Validated Data</a:t>
            </a:r>
          </a:p>
          <a:p>
            <a:endParaRPr lang="en-US" b="1" dirty="0"/>
          </a:p>
          <a:p>
            <a:endParaRPr lang="en-US" b="1" dirty="0"/>
          </a:p>
          <a:p>
            <a:r>
              <a:rPr lang="en-US" dirty="0"/>
              <a:t>Before: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/>
              <a:t>Errors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/>
              <a:t>Missing values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/>
              <a:t>Unrealistic numbers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endParaRPr lang="en-US" dirty="0"/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4E9301A3-B988-3B86-8AF2-8A0B435A5F7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66166" y="528574"/>
            <a:ext cx="6612229" cy="608115"/>
          </a:xfrm>
          <a:prstGeom prst="rect">
            <a:avLst/>
          </a:prstGeom>
        </p:spPr>
        <p:txBody>
          <a:bodyPr vert="horz" wrap="square" lIns="0" tIns="114554" rIns="0" bIns="0" rtlCol="0">
            <a:spAutoFit/>
          </a:bodyPr>
          <a:lstStyle/>
          <a:p>
            <a:r>
              <a:rPr lang="de-DE" sz="3200" dirty="0" err="1"/>
              <a:t>Before</a:t>
            </a:r>
            <a:r>
              <a:rPr lang="de-DE" sz="3200" dirty="0"/>
              <a:t> </a:t>
            </a:r>
            <a:r>
              <a:rPr lang="de-DE" sz="3200" dirty="0" err="1"/>
              <a:t>vs</a:t>
            </a:r>
            <a:r>
              <a:rPr lang="de-DE" sz="3200" dirty="0"/>
              <a:t> After</a:t>
            </a:r>
          </a:p>
        </p:txBody>
      </p:sp>
      <p:sp>
        <p:nvSpPr>
          <p:cNvPr id="7" name="Foliennummernplatzhalter 7">
            <a:extLst>
              <a:ext uri="{FF2B5EF4-FFF2-40B4-BE49-F238E27FC236}">
                <a16:creationId xmlns:a16="http://schemas.microsoft.com/office/drawing/2014/main" id="{D91A306C-1230-2931-E728-791060714E6C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685800" y="6645224"/>
            <a:ext cx="2269135" cy="128240"/>
          </a:xfrm>
        </p:spPr>
        <p:txBody>
          <a:bodyPr/>
          <a:lstStyle/>
          <a:p>
            <a:pPr marL="12700">
              <a:lnSpc>
                <a:spcPts val="955"/>
              </a:lnSpc>
            </a:pPr>
            <a:r>
              <a:rPr lang="en-US" dirty="0"/>
              <a:t>Jan 28 2026| ASTRAI | You-Lead Session| 17</a:t>
            </a:r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5A8FD440-A671-5034-DF3F-5F975042CB2D}"/>
              </a:ext>
            </a:extLst>
          </p:cNvPr>
          <p:cNvSpPr/>
          <p:nvPr/>
        </p:nvSpPr>
        <p:spPr>
          <a:xfrm flipH="1">
            <a:off x="4419600" y="2492006"/>
            <a:ext cx="45719" cy="2353511"/>
          </a:xfrm>
          <a:custGeom>
            <a:avLst/>
            <a:gdLst/>
            <a:ahLst/>
            <a:cxnLst/>
            <a:rect l="l" t="t" r="r" b="b"/>
            <a:pathLst>
              <a:path h="4620260">
                <a:moveTo>
                  <a:pt x="0" y="0"/>
                </a:moveTo>
                <a:lnTo>
                  <a:pt x="0" y="4619955"/>
                </a:lnTo>
              </a:path>
            </a:pathLst>
          </a:custGeom>
          <a:ln w="19050">
            <a:solidFill>
              <a:srgbClr val="B3B3B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FB7C7EA0-BEAE-A556-8ADA-BB0530086809}"/>
              </a:ext>
            </a:extLst>
          </p:cNvPr>
          <p:cNvSpPr txBox="1"/>
          <p:nvPr/>
        </p:nvSpPr>
        <p:spPr>
          <a:xfrm>
            <a:off x="4915509" y="2492006"/>
            <a:ext cx="5090162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After: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/>
              <a:t>Clean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/>
              <a:t>Logical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/>
              <a:t>Ready for analysis</a:t>
            </a:r>
          </a:p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55288917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66166" y="528574"/>
            <a:ext cx="6612229" cy="505908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r>
              <a:rPr lang="de-DE" sz="3200" dirty="0"/>
              <a:t>Real Impact</a:t>
            </a:r>
          </a:p>
        </p:txBody>
      </p:sp>
      <p:sp>
        <p:nvSpPr>
          <p:cNvPr id="26" name="object 26"/>
          <p:cNvSpPr txBox="1"/>
          <p:nvPr/>
        </p:nvSpPr>
        <p:spPr>
          <a:xfrm>
            <a:off x="348488" y="1736598"/>
            <a:ext cx="3564254" cy="457176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 algn="just">
              <a:spcBef>
                <a:spcPts val="105"/>
              </a:spcBef>
            </a:pPr>
            <a:r>
              <a:rPr lang="de-DE" sz="1400" b="1" dirty="0" err="1"/>
              <a:t>Where</a:t>
            </a:r>
            <a:r>
              <a:rPr lang="de-DE" sz="1400" b="1" dirty="0"/>
              <a:t> </a:t>
            </a:r>
            <a:r>
              <a:rPr lang="de-DE" sz="1400" b="1" dirty="0" err="1"/>
              <a:t>Is</a:t>
            </a:r>
            <a:r>
              <a:rPr lang="de-DE" sz="1400" b="1" dirty="0"/>
              <a:t> This </a:t>
            </a:r>
            <a:r>
              <a:rPr lang="de-DE" sz="1400" b="1" dirty="0" err="1"/>
              <a:t>Used</a:t>
            </a:r>
            <a:r>
              <a:rPr lang="de-DE" sz="1400" b="1" dirty="0"/>
              <a:t>?</a:t>
            </a:r>
          </a:p>
          <a:p>
            <a:pPr marL="12700" marR="5080" algn="just">
              <a:lnSpc>
                <a:spcPct val="100000"/>
              </a:lnSpc>
              <a:spcBef>
                <a:spcPts val="105"/>
              </a:spcBef>
            </a:pPr>
            <a:endParaRPr sz="1400" dirty="0">
              <a:latin typeface="Calibri"/>
              <a:cs typeface="Calibri"/>
            </a:endParaRPr>
          </a:p>
        </p:txBody>
      </p:sp>
      <p:sp>
        <p:nvSpPr>
          <p:cNvPr id="30" name="Foliennummernplatzhalter 7">
            <a:extLst>
              <a:ext uri="{FF2B5EF4-FFF2-40B4-BE49-F238E27FC236}">
                <a16:creationId xmlns:a16="http://schemas.microsoft.com/office/drawing/2014/main" id="{8DE7F2AB-340A-F4B0-996B-02DF33B1B22D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685800" y="6645224"/>
            <a:ext cx="2269135" cy="128240"/>
          </a:xfrm>
        </p:spPr>
        <p:txBody>
          <a:bodyPr/>
          <a:lstStyle/>
          <a:p>
            <a:pPr marL="12700">
              <a:lnSpc>
                <a:spcPts val="955"/>
              </a:lnSpc>
            </a:pPr>
            <a:r>
              <a:rPr lang="en-US" dirty="0"/>
              <a:t>Jan 28 2026| ASTRAI | You-Lead Session| 18</a:t>
            </a:r>
          </a:p>
        </p:txBody>
      </p:sp>
      <p:graphicFrame>
        <p:nvGraphicFramePr>
          <p:cNvPr id="36" name="Diagramm 35">
            <a:extLst>
              <a:ext uri="{FF2B5EF4-FFF2-40B4-BE49-F238E27FC236}">
                <a16:creationId xmlns:a16="http://schemas.microsoft.com/office/drawing/2014/main" id="{7A34B630-C402-6F34-C07A-7F097C82BE5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790868314"/>
              </p:ext>
            </p:extLst>
          </p:nvPr>
        </p:nvGraphicFramePr>
        <p:xfrm>
          <a:off x="2590800" y="1965186"/>
          <a:ext cx="6426200" cy="385233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7" name="Textfeld 36">
            <a:extLst>
              <a:ext uri="{FF2B5EF4-FFF2-40B4-BE49-F238E27FC236}">
                <a16:creationId xmlns:a16="http://schemas.microsoft.com/office/drawing/2014/main" id="{164F5EEB-4261-B26F-5C06-FA6C88416A97}"/>
              </a:ext>
            </a:extLst>
          </p:cNvPr>
          <p:cNvSpPr txBox="1"/>
          <p:nvPr/>
        </p:nvSpPr>
        <p:spPr>
          <a:xfrm>
            <a:off x="348488" y="5817519"/>
            <a:ext cx="490931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Validation </a:t>
            </a:r>
            <a:r>
              <a:rPr lang="de-DE" dirty="0" err="1"/>
              <a:t>improves</a:t>
            </a:r>
            <a:r>
              <a:rPr lang="de-DE" dirty="0"/>
              <a:t> </a:t>
            </a:r>
            <a:r>
              <a:rPr lang="de-DE" dirty="0" err="1"/>
              <a:t>reliability</a:t>
            </a:r>
            <a:r>
              <a:rPr lang="de-DE" dirty="0"/>
              <a:t> </a:t>
            </a:r>
            <a:r>
              <a:rPr lang="de-DE" dirty="0" err="1"/>
              <a:t>everywhere</a:t>
            </a:r>
            <a:r>
              <a:rPr lang="de-DE" dirty="0"/>
              <a:t>.</a:t>
            </a:r>
          </a:p>
          <a:p>
            <a:endParaRPr lang="de-DE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124F30-82A5-9877-E99D-9828A476E4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258B557A-1817-16EE-9EF3-EEC79838337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789885" y="3063387"/>
            <a:ext cx="6612229" cy="731226"/>
          </a:xfrm>
          <a:prstGeom prst="rect">
            <a:avLst/>
          </a:prstGeom>
        </p:spPr>
        <p:txBody>
          <a:bodyPr vert="horz" wrap="square" lIns="0" tIns="114554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5"/>
              </a:spcBef>
              <a:tabLst>
                <a:tab pos="882650" algn="l"/>
              </a:tabLst>
            </a:pPr>
            <a:r>
              <a:rPr lang="en-US" sz="4000" dirty="0">
                <a:solidFill>
                  <a:srgbClr val="C00000"/>
                </a:solidFill>
              </a:rPr>
              <a:t>Key takeaways</a:t>
            </a:r>
            <a:endParaRPr lang="en-US" sz="3200" dirty="0">
              <a:solidFill>
                <a:srgbClr val="C00000"/>
              </a:solidFill>
            </a:endParaRPr>
          </a:p>
        </p:txBody>
      </p:sp>
      <p:sp>
        <p:nvSpPr>
          <p:cNvPr id="7" name="Foliennummernplatzhalter 7">
            <a:extLst>
              <a:ext uri="{FF2B5EF4-FFF2-40B4-BE49-F238E27FC236}">
                <a16:creationId xmlns:a16="http://schemas.microsoft.com/office/drawing/2014/main" id="{F831C8FC-AF67-7195-75FC-EBCB95B0FA5F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685800" y="6645224"/>
            <a:ext cx="2269135" cy="128240"/>
          </a:xfrm>
        </p:spPr>
        <p:txBody>
          <a:bodyPr/>
          <a:lstStyle/>
          <a:p>
            <a:pPr marL="12700">
              <a:lnSpc>
                <a:spcPts val="955"/>
              </a:lnSpc>
            </a:pPr>
            <a:r>
              <a:rPr lang="en-US" dirty="0"/>
              <a:t>Jan 28 2026| ASTRAI | You-Lead Session| 19</a:t>
            </a:r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9425684D-310B-C497-758C-302EE2391598}"/>
              </a:ext>
            </a:extLst>
          </p:cNvPr>
          <p:cNvSpPr txBox="1"/>
          <p:nvPr/>
        </p:nvSpPr>
        <p:spPr>
          <a:xfrm>
            <a:off x="533400" y="990600"/>
            <a:ext cx="76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0" lang="de-DE" sz="3200" b="1" i="0" u="none" strike="noStrike" kern="0" cap="none" spc="-25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/>
                <a:cs typeface="Calibri"/>
              </a:rPr>
              <a:t>#5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61552603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66166" y="528574"/>
            <a:ext cx="6612229" cy="705705"/>
          </a:xfrm>
          <a:prstGeom prst="rect">
            <a:avLst/>
          </a:prstGeom>
        </p:spPr>
        <p:txBody>
          <a:bodyPr vert="horz" wrap="square" lIns="0" tIns="211200" rIns="0" bIns="0" rtlCol="0">
            <a:spAutoFit/>
          </a:bodyPr>
          <a:lstStyle/>
          <a:p>
            <a:r>
              <a:rPr lang="de-DE" sz="3200" dirty="0"/>
              <a:t>Key Takeaways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66166" y="2333759"/>
            <a:ext cx="7169784" cy="261417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lang="en-US" b="1" dirty="0"/>
              <a:t>What Should You Remember?</a:t>
            </a:r>
          </a:p>
          <a:p>
            <a:endParaRPr lang="en-US" b="1" dirty="0"/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/>
              <a:t>Data validation is essential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/>
              <a:t>Pandas makes validation simple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/>
              <a:t>Better data = Better decisions</a:t>
            </a:r>
          </a:p>
          <a:p>
            <a:pPr marL="299085" marR="5080" indent="-287020">
              <a:lnSpc>
                <a:spcPct val="150000"/>
              </a:lnSpc>
              <a:spcBef>
                <a:spcPts val="100"/>
              </a:spcBef>
              <a:buClr>
                <a:srgbClr val="B3B3B3"/>
              </a:buClr>
              <a:buSzPct val="150000"/>
              <a:buFont typeface="Arial MT"/>
              <a:buChar char="•"/>
              <a:tabLst>
                <a:tab pos="299085" algn="l"/>
                <a:tab pos="1525905" algn="l"/>
                <a:tab pos="2303145" algn="l"/>
                <a:tab pos="2546985" algn="l"/>
                <a:tab pos="3145790" algn="l"/>
                <a:tab pos="3545840" algn="l"/>
                <a:tab pos="3789679" algn="l"/>
                <a:tab pos="4721860" algn="l"/>
                <a:tab pos="5400040" algn="l"/>
                <a:tab pos="5859145" algn="l"/>
                <a:tab pos="6229350" algn="l"/>
                <a:tab pos="6680834" algn="l"/>
              </a:tabLst>
            </a:pPr>
            <a:endParaRPr sz="1800" dirty="0">
              <a:latin typeface="Calibri"/>
              <a:cs typeface="Calibri"/>
            </a:endParaRPr>
          </a:p>
        </p:txBody>
      </p:sp>
      <p:sp>
        <p:nvSpPr>
          <p:cNvPr id="7" name="Foliennummernplatzhalter 7">
            <a:extLst>
              <a:ext uri="{FF2B5EF4-FFF2-40B4-BE49-F238E27FC236}">
                <a16:creationId xmlns:a16="http://schemas.microsoft.com/office/drawing/2014/main" id="{2D80805F-DFEB-E8B8-E416-2E26008D9D05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685800" y="6645224"/>
            <a:ext cx="2269135" cy="128240"/>
          </a:xfrm>
        </p:spPr>
        <p:txBody>
          <a:bodyPr/>
          <a:lstStyle/>
          <a:p>
            <a:pPr marL="12700">
              <a:lnSpc>
                <a:spcPts val="955"/>
              </a:lnSpc>
            </a:pPr>
            <a:r>
              <a:rPr lang="en-US" dirty="0"/>
              <a:t>Jan 28 2026| ASTRAI | You-Lead Session| 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platzhalter 2">
            <a:extLst>
              <a:ext uri="{FF2B5EF4-FFF2-40B4-BE49-F238E27FC236}">
                <a16:creationId xmlns:a16="http://schemas.microsoft.com/office/drawing/2014/main" id="{D4CA5312-77CC-72C0-138B-38ED6D190E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226627" y="3152001"/>
            <a:ext cx="7738745" cy="553998"/>
          </a:xfrm>
        </p:spPr>
        <p:txBody>
          <a:bodyPr/>
          <a:lstStyle/>
          <a:p>
            <a:pPr algn="ctr"/>
            <a:r>
              <a:rPr lang="en-US" sz="3600" dirty="0"/>
              <a:t>Thank You!</a:t>
            </a:r>
          </a:p>
        </p:txBody>
      </p:sp>
      <p:sp>
        <p:nvSpPr>
          <p:cNvPr id="5" name="Foliennummernplatzhalter 7">
            <a:extLst>
              <a:ext uri="{FF2B5EF4-FFF2-40B4-BE49-F238E27FC236}">
                <a16:creationId xmlns:a16="http://schemas.microsoft.com/office/drawing/2014/main" id="{5893A51D-B62E-6D46-2476-00A585352628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685800" y="6645224"/>
            <a:ext cx="2269135" cy="128240"/>
          </a:xfrm>
        </p:spPr>
        <p:txBody>
          <a:bodyPr/>
          <a:lstStyle/>
          <a:p>
            <a:pPr marL="12700">
              <a:lnSpc>
                <a:spcPts val="955"/>
              </a:lnSpc>
            </a:pPr>
            <a:r>
              <a:rPr lang="en-US" dirty="0"/>
              <a:t>Jan 28 2026| ASTRAI | You-Lead Session| 21</a:t>
            </a:r>
          </a:p>
        </p:txBody>
      </p:sp>
    </p:spTree>
    <p:extLst>
      <p:ext uri="{BB962C8B-B14F-4D97-AF65-F5344CB8AC3E}">
        <p14:creationId xmlns:p14="http://schemas.microsoft.com/office/powerpoint/2010/main" val="217408729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1038</Words>
  <Application>Microsoft Office PowerPoint</Application>
  <PresentationFormat>Breitbild</PresentationFormat>
  <Paragraphs>191</Paragraphs>
  <Slides>21</Slides>
  <Notes>6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21</vt:i4>
      </vt:variant>
    </vt:vector>
  </HeadingPairs>
  <TitlesOfParts>
    <vt:vector size="26" baseType="lpstr">
      <vt:lpstr>Aptos</vt:lpstr>
      <vt:lpstr>Arial</vt:lpstr>
      <vt:lpstr>Arial MT</vt:lpstr>
      <vt:lpstr>Calibri</vt:lpstr>
      <vt:lpstr>Office Theme</vt:lpstr>
      <vt:lpstr>PowerPoint-Präsentation</vt:lpstr>
      <vt:lpstr>AGENDA</vt:lpstr>
      <vt:lpstr> Why data quality matters</vt:lpstr>
      <vt:lpstr>PowerPoint-Präsentation</vt:lpstr>
      <vt:lpstr>PowerPoint-Präsentation</vt:lpstr>
      <vt:lpstr>PowerPoint-Präsentation</vt:lpstr>
      <vt:lpstr>What is Data Validation?</vt:lpstr>
      <vt:lpstr>PowerPoint-Präsentation</vt:lpstr>
      <vt:lpstr>Why Validation is Important</vt:lpstr>
      <vt:lpstr>Real Example: Traffic Sensor Data</vt:lpstr>
      <vt:lpstr>PowerPoint-Präsentation</vt:lpstr>
      <vt:lpstr>Validation Rules</vt:lpstr>
      <vt:lpstr>Live demo with Pandas</vt:lpstr>
      <vt:lpstr>Live Demo : Load Data </vt:lpstr>
      <vt:lpstr>Live Demo: Detect Errors</vt:lpstr>
      <vt:lpstr>Live Demo: Apply Validation Rules</vt:lpstr>
      <vt:lpstr>Before vs After</vt:lpstr>
      <vt:lpstr>Real Impact</vt:lpstr>
      <vt:lpstr>Key takeaways</vt:lpstr>
      <vt:lpstr>Key Takeaways</vt:lpstr>
      <vt:lpstr>PowerPoint-Präsentation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ELISA - Austausch mit Transporteuren</dc:title>
  <dc:creator>Jürgen Wilke</dc:creator>
  <cp:lastModifiedBy>Imen  Meftah</cp:lastModifiedBy>
  <cp:revision>4</cp:revision>
  <dcterms:created xsi:type="dcterms:W3CDTF">2026-01-25T17:04:21Z</dcterms:created>
  <dcterms:modified xsi:type="dcterms:W3CDTF">2026-01-26T00:27:24Z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2025-11-18T00:00:00Z</vt:filetime>
  </property>
  <property fmtid="{D5CDD505-2E9C-101B-9397-08002B2CF9AE}" pid="3" name="Creator">
    <vt:lpwstr>Microsoft® PowerPoint® for Microsoft 365</vt:lpwstr>
  </property>
  <property fmtid="{D5CDD505-2E9C-101B-9397-08002B2CF9AE}" pid="4" name="LastSaved">
    <vt:filetime>2026-01-25T00:00:00Z</vt:filetime>
  </property>
  <property fmtid="{D5CDD505-2E9C-101B-9397-08002B2CF9AE}" pid="5" name="Producer">
    <vt:lpwstr>Microsoft® PowerPoint® for Microsoft 365</vt:lpwstr>
  </property>
</Properties>
</file>